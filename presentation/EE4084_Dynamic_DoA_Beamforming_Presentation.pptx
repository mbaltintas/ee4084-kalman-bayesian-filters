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6" d="100"/>
          <a:sy n="86" d="100"/>
        </p:scale>
        <p:origin x="53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3083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this is my EE4084 Kalman and Bayesian Filters course project presentation. The project title is Dynamic DoA Tracking and Jammer Suppression. The main idea is to combine direction of arrival estimation, IMM Kalman filtering, and adaptive beamforming on an ADALM-Pluto SDR based setup. Tx0 is used as the QPSK signal of interest, and Tx1 is used as a stronger CW jammer. The receiver has two channels, so the system has to adapt its interpretation of the dominant MUSIC peak depending on whether the jammer is active or not.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maps the presentation to the project requirements. I will first explain the motivation. Then I will describe the process model, which is the angular motion model of the DoA. After that I will explain the measurement model based on MUSIC. The filter design section explains the IMM Kalman filter. Then I will compare the no-jammer and jammer-present results. Finally, the video demonstration will show the GUI and how the system changes its mode when Tx1 jammer is enabled or disabled.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is that a strong jammer changes the meaning of the DoA estimate. The receiver has two channels, so MUSIC can reliably detect only one dominant direction. If Tx1 jammer is off, that direction is the SOI. If Tx1 jammer is on and has higher gain, the dominant direction becomes the jammer. Therefore, the system cannot simply treat every MUSIC peak as the SOI. The project solves this by using an adaptive operating mode. Without jammer, the filter tracks the SOI and MVDR is used. With jammer, the filter tracks the jammer and LCMV is used to null it while preserving the known SOI direction at 0 degrees.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block diagram. The transmitter side has Tx0 for QPSK SOI and Tx1 for CW jammer. The receiver has two channels. First, the covariance matrix is estimated. Then MUSIC estimates the dominant DoA. The raw MUSIC angle is passed to the IMM Kalman filter. After that, mode selection decides whether the system is in no-jammer mode or jammer-present mode. In no-jammer mode, MVDR is used. In jammer-present mode, LCMV is used. The key design point is that the system does not try to separate SOI and jammer at the same time using only two channels. Instead, it uses the known SOI broadside direction and mode information.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experimental setup uses an ADALM-Pluto SDR or AD936x based configuration. The receiver has two enabled channels. The center frequency is 2.1 GHz and the sampling rate is 5 mega samples per second. Tx0 transmits a QPSK signal of interest with minus 20 dB gain. Tx1 transmits a CW jammer with minus 3 dB gain. Therefore the jammer is 17 dB stronger at the transmitter side. In the jammer-present mode, the SOI is assumed to be at broadside, which is 0 degrees. The antenna model is a two-element ULA with half-wavelength spacing.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 model describes angular motion. The state vector contains direction of arrival angle, angular velocity, and angular acceleration. This is not a Cartesian position tracking problem. The filter tracks how the DoA angle changes over time. The constant acceleration transition matrix is shown as a representative model. The IMM structure uses three motion models: CP, CV, and CA. CP is useful for nearly stationary sources, CV for smooth angular motion, and CA for maneuvering behavior. The same state definition is used whether the physical source is the SOI or the jammer.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measurement model starts from the received IQ data. The covariance matrix is estimated for each frame. Then eigenvalue decomposition separates the signal and noise subspaces. The MUSIC pseudo-spectrum is evaluated by scanning angles from minus 90 to plus 90 degrees. The angle that maximizes the MUSIC spectrum becomes the raw measurement z_k. The Kalman measurement matrix observes only the angle component of the state, so angular velocity and acceleration are not directly measured. They are inferred through the dynamic process model and the Kalman update.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IMM filter has a Bayesian multiple-model structure. First, it mixes the previous model-conditioned estimates. Then it runs the CP, CV, and CA Kalman filters in parallel. Each model produces an innovation. If a model explains the measurement well, its innovation is smaller and its likelihood becomes higher. The model probabilities are then normalized. The final state estimate is the weighted sum of the model-conditioned estimates. One important point is that IMM switches between motion models, not source identities. The physical identity of the tracked source is controlled by the operating mode.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the raw MUSIC peak is not always equally reliable. Therefore, I used adaptive measurement noise. If the MUSIC peak is sharp, the filter can trust the measurement more. If the peak is flat, if the covariance matrix is ill-conditioned, or if the signal is weak, the measurement noise is increased. I also reinitialize the IMM tracker when the tracked target label changes between SOI and JAMMER. This avoids long transients. Another practical issue is the two-channel limitation. The system estimates only one dominant source, so the source interpretation is based on the jammer state. Image peaks and phase calibration errors can also reduce nulling performance.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beamforming strategy is different in the two modes. In no-jammer mode, the system uses MVDR. The MVDR beamformer is steered toward the IMM-filtered SOI direction and minimizes output power while keeping unity response toward the SOI. In jammer-present mode, the estimator tracks the jammer, not the SOI. Therefore the beamformer should not steer to the IMM direction. Instead, the SOI direction is fixed at 0 degrees and LCMV is used. LCMV has two constraints: unity gain toward the SOI and zero response toward the jammer. The suppression metric is shown only in this jammer-present mode.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GUI implementation processes data frame by frame. First, the PlutoSDR is configured. Tx0 generates the QPSK SOI, and Tx1 can generate the CW jammer. The receiver reads two-channel IQ data. A fixed phase calibration is applied to the second receive channel. Then the covariance matrix and MUSIC spectrum are calculated. The dominant peak is passed to the IMM filter. Depending on the Tx1 state, the tracker target is SOI or JAMMER. Then MVDR or LCMV weights are calculated and applied. The GUI displays the spectrum, trajectories, RSSI values, suppression, and model probabilities. A useful implementation detail is that the Tx1 jammer can be switched live by restarting cyclic TX buffers in the worker thread.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no-jammer result. Tx1 is disabled, so only the QPSK SOI is active. The upper plot shows the MUSIC spectrum. The dominant peak corresponds to the SOI direction. The lower plot compares raw MUSIC DoA with the IMM-filtered DoA. The raw measurement is noisier, while the IMM output is smoother and dynamically more consistent. Since there is no jammer, the beamformer is MVDR and the jammer suppression metric is not displayed. This test verifies that the system works as a normal dynamic SOI tracking receiver.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jammer-present result. Tx1 is active and stronger than the QPSK SOI. Therefore, the dominant MUSIC peak corresponds to the jammer direction. In the measurement shown here, the dominant MUSIC DoA is about minus 66.50 degrees, and the IMM-tracked jammer angle is about minus 68.42 degrees. The SOI reference is kept fixed at 0 degrees broadside. The beamformer switches to LCMV, so the tracked jammer angle is used as the nulling direction. This result verifies the intended jammer tracking behavior.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measurement panel from the jammer-present case and summarizes the key values. The dominant MUSIC angle is minus 66.50 degrees. The IMM-tracked jammer angle is minus 68.42 degrees. The SOI reference remains fixed at 0 degrees. The beamformer is LCMV. RSSI In is minus 88.73 dBm and RSSI Out is minus 106.10 dBm, giving a suppression value of approximately 17.36 dB. This metric is only meaningful while the jammer is active and the system is in LCMV mode.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Bandicam demonstration, I will start with Tx1 off and show SOI tracking with MVDR. Then I will turn Tx1 on and show that the dominant MUSIC peak becomes the jammer direction, the IMM target changes to JAMMER, the beamformer becomes LCMV, and the suppression value appears. Finally, I will disable Tx1 and show the return to SOI tracking and MVDR. The main limitations are the two-channel array, the fixed broadside SOI assumption during jammer mode, and sensitivity to phase calibration. The final conclusion is that MUSIC, IMM Kalman filtering, and adaptive MVDR/LCMV beamforming can be integrated into a practical jammer-aware receiver. Future work will move the processing to the Pluto SDR ARM Cortex-A9 and use Zynq Z-7010 programmable logic for hardware acceleration.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pic>
        <p:nvPicPr>
          <p:cNvPr id="2" name="Image 0" descr="/mnt/data/marmara_logo_transparent.png"/>
          <p:cNvPicPr>
            <a:picLocks noChangeAspect="1"/>
          </p:cNvPicPr>
          <p:nvPr/>
        </p:nvPicPr>
        <p:blipFill>
          <a:blip r:embed="rId3"/>
          <a:stretch>
            <a:fillRect/>
          </a:stretch>
        </p:blipFill>
        <p:spPr>
          <a:xfrm>
            <a:off x="502920" y="411480"/>
            <a:ext cx="1115568" cy="1115568"/>
          </a:xfrm>
          <a:prstGeom prst="rect">
            <a:avLst/>
          </a:prstGeom>
        </p:spPr>
      </p:pic>
      <p:sp>
        <p:nvSpPr>
          <p:cNvPr id="3" name="Text 0"/>
          <p:cNvSpPr/>
          <p:nvPr/>
        </p:nvSpPr>
        <p:spPr>
          <a:xfrm>
            <a:off x="1783080" y="530352"/>
            <a:ext cx="5029200" cy="475488"/>
          </a:xfrm>
          <a:prstGeom prst="rect">
            <a:avLst/>
          </a:prstGeom>
          <a:noFill/>
          <a:ln/>
        </p:spPr>
        <p:txBody>
          <a:bodyPr wrap="square" lIns="0" tIns="0" rIns="0" bIns="0" rtlCol="0" anchor="ctr">
            <a:normAutofit/>
          </a:bodyPr>
          <a:lstStyle/>
          <a:p>
            <a:pPr marL="0" indent="0">
              <a:buNone/>
            </a:pPr>
            <a:r>
              <a:rPr lang="en-US" sz="1220" dirty="0">
                <a:solidFill>
                  <a:srgbClr val="5D667A"/>
                </a:solidFill>
                <a:latin typeface="Aptos" pitchFamily="34" charset="0"/>
                <a:ea typeface="Aptos" pitchFamily="34" charset="-122"/>
                <a:cs typeface="Aptos" pitchFamily="34" charset="-120"/>
              </a:rPr>
              <a:t>Marmara University</a:t>
            </a:r>
            <a:endParaRPr lang="en-US" sz="1220" dirty="0"/>
          </a:p>
          <a:p>
            <a:pPr marL="0" indent="0">
              <a:buNone/>
            </a:pPr>
            <a:r>
              <a:rPr lang="en-US" sz="1220" dirty="0">
                <a:solidFill>
                  <a:srgbClr val="5D667A"/>
                </a:solidFill>
                <a:latin typeface="Aptos" pitchFamily="34" charset="0"/>
                <a:ea typeface="Aptos" pitchFamily="34" charset="-122"/>
                <a:cs typeface="Aptos" pitchFamily="34" charset="-120"/>
              </a:rPr>
              <a:t>Department of Electrical and Electronics Engineering</a:t>
            </a:r>
            <a:endParaRPr lang="en-US" sz="1220" dirty="0"/>
          </a:p>
        </p:txBody>
      </p:sp>
      <p:sp>
        <p:nvSpPr>
          <p:cNvPr id="4" name="Text 1"/>
          <p:cNvSpPr/>
          <p:nvPr/>
        </p:nvSpPr>
        <p:spPr>
          <a:xfrm>
            <a:off x="7406640" y="530352"/>
            <a:ext cx="4114800" cy="475488"/>
          </a:xfrm>
          <a:prstGeom prst="rect">
            <a:avLst/>
          </a:prstGeom>
          <a:noFill/>
          <a:ln/>
        </p:spPr>
        <p:txBody>
          <a:bodyPr wrap="square" lIns="0" tIns="0" rIns="0" bIns="0" rtlCol="0" anchor="ctr">
            <a:normAutofit/>
          </a:bodyPr>
          <a:lstStyle/>
          <a:p>
            <a:pPr marL="0" indent="0" algn="r">
              <a:buNone/>
            </a:pPr>
            <a:r>
              <a:rPr lang="en-US" sz="1250" b="1" dirty="0">
                <a:solidFill>
                  <a:srgbClr val="2563EB"/>
                </a:solidFill>
                <a:latin typeface="Aptos" pitchFamily="34" charset="0"/>
                <a:ea typeface="Aptos" pitchFamily="34" charset="-122"/>
                <a:cs typeface="Aptos" pitchFamily="34" charset="-120"/>
              </a:rPr>
              <a:t>EE4084 Kalman and Bayesian Filters</a:t>
            </a:r>
            <a:endParaRPr lang="en-US" sz="1250" dirty="0"/>
          </a:p>
          <a:p>
            <a:pPr marL="0" indent="0" algn="r">
              <a:buNone/>
            </a:pPr>
            <a:r>
              <a:rPr lang="en-US" sz="1250" b="1" dirty="0">
                <a:solidFill>
                  <a:srgbClr val="2563EB"/>
                </a:solidFill>
                <a:latin typeface="Aptos" pitchFamily="34" charset="0"/>
                <a:ea typeface="Aptos" pitchFamily="34" charset="-122"/>
                <a:cs typeface="Aptos" pitchFamily="34" charset="-120"/>
              </a:rPr>
              <a:t>Course Project Presentation</a:t>
            </a:r>
            <a:endParaRPr lang="en-US" sz="1250" dirty="0"/>
          </a:p>
        </p:txBody>
      </p:sp>
      <p:sp>
        <p:nvSpPr>
          <p:cNvPr id="5" name="Text 2"/>
          <p:cNvSpPr/>
          <p:nvPr/>
        </p:nvSpPr>
        <p:spPr>
          <a:xfrm>
            <a:off x="658368" y="1783080"/>
            <a:ext cx="6400800" cy="1024128"/>
          </a:xfrm>
          <a:prstGeom prst="rect">
            <a:avLst/>
          </a:prstGeom>
          <a:noFill/>
          <a:ln/>
        </p:spPr>
        <p:txBody>
          <a:bodyPr wrap="square" lIns="0" tIns="0" rIns="0" bIns="0" rtlCol="0" anchor="ctr">
            <a:normAutofit/>
          </a:bodyPr>
          <a:lstStyle/>
          <a:p>
            <a:pPr marL="0" indent="0">
              <a:buNone/>
            </a:pPr>
            <a:r>
              <a:rPr lang="en-US" sz="3400" b="1" dirty="0">
                <a:solidFill>
                  <a:srgbClr val="172033"/>
                </a:solidFill>
                <a:latin typeface="Aptos Display" pitchFamily="34" charset="0"/>
                <a:ea typeface="Aptos Display" pitchFamily="34" charset="-122"/>
                <a:cs typeface="Aptos Display" pitchFamily="34" charset="-120"/>
              </a:rPr>
              <a:t>Dynamic DoA Tracking and</a:t>
            </a:r>
            <a:endParaRPr lang="en-US" sz="3400" dirty="0"/>
          </a:p>
          <a:p>
            <a:pPr marL="0" indent="0">
              <a:buNone/>
            </a:pPr>
            <a:r>
              <a:rPr lang="en-US" sz="3400" b="1" dirty="0">
                <a:solidFill>
                  <a:srgbClr val="172033"/>
                </a:solidFill>
                <a:latin typeface="Aptos Display" pitchFamily="34" charset="0"/>
                <a:ea typeface="Aptos Display" pitchFamily="34" charset="-122"/>
                <a:cs typeface="Aptos Display" pitchFamily="34" charset="-120"/>
              </a:rPr>
              <a:t>Jammer Suppression</a:t>
            </a:r>
            <a:endParaRPr lang="en-US" sz="3400" dirty="0"/>
          </a:p>
        </p:txBody>
      </p:sp>
      <p:sp>
        <p:nvSpPr>
          <p:cNvPr id="6" name="Text 3"/>
          <p:cNvSpPr/>
          <p:nvPr/>
        </p:nvSpPr>
        <p:spPr>
          <a:xfrm>
            <a:off x="685800" y="2999232"/>
            <a:ext cx="6080760" cy="320040"/>
          </a:xfrm>
          <a:prstGeom prst="rect">
            <a:avLst/>
          </a:prstGeom>
          <a:noFill/>
          <a:ln/>
        </p:spPr>
        <p:txBody>
          <a:bodyPr wrap="square" lIns="0" tIns="0" rIns="0" bIns="0" rtlCol="0" anchor="ctr">
            <a:normAutofit/>
          </a:bodyPr>
          <a:lstStyle/>
          <a:p>
            <a:pPr marL="0" indent="0">
              <a:buNone/>
            </a:pPr>
            <a:r>
              <a:rPr lang="en-US" sz="1400" b="1" dirty="0">
                <a:solidFill>
                  <a:srgbClr val="2563EB"/>
                </a:solidFill>
                <a:latin typeface="Aptos" pitchFamily="34" charset="0"/>
                <a:ea typeface="Aptos" pitchFamily="34" charset="-122"/>
                <a:cs typeface="Aptos" pitchFamily="34" charset="-120"/>
              </a:rPr>
              <a:t>MUSIC • IMM Kalman Filter • MVDR/LCMV Beamforming • ADALM-Pluto SDR</a:t>
            </a:r>
            <a:endParaRPr lang="en-US" sz="1400" dirty="0"/>
          </a:p>
        </p:txBody>
      </p:sp>
      <p:sp>
        <p:nvSpPr>
          <p:cNvPr id="7" name="Text 4"/>
          <p:cNvSpPr/>
          <p:nvPr/>
        </p:nvSpPr>
        <p:spPr>
          <a:xfrm>
            <a:off x="685800" y="3703320"/>
            <a:ext cx="6309360" cy="658368"/>
          </a:xfrm>
          <a:prstGeom prst="rect">
            <a:avLst/>
          </a:prstGeom>
          <a:noFill/>
          <a:ln/>
        </p:spPr>
        <p:txBody>
          <a:bodyPr wrap="square" lIns="254" tIns="254" rIns="254" bIns="254" rtlCol="0" anchor="ctr">
            <a:normAutofit/>
          </a:bodyPr>
          <a:lstStyle/>
          <a:p>
            <a:pPr marL="0" indent="0">
              <a:buNone/>
            </a:pPr>
            <a:r>
              <a:rPr lang="tr-TR" sz="1320">
                <a:solidFill>
                  <a:srgbClr val="172033"/>
                </a:solidFill>
                <a:latin typeface="Aptos" pitchFamily="34" charset="0"/>
                <a:ea typeface="Aptos" pitchFamily="34" charset="-122"/>
                <a:cs typeface="Aptos" pitchFamily="34" charset="-120"/>
              </a:rPr>
              <a:t>Name Surname</a:t>
            </a:r>
            <a:r>
              <a:rPr lang="en-US" sz="1320">
                <a:solidFill>
                  <a:srgbClr val="172033"/>
                </a:solidFill>
                <a:latin typeface="Aptos" pitchFamily="34" charset="0"/>
                <a:ea typeface="Aptos" pitchFamily="34" charset="-122"/>
                <a:cs typeface="Aptos" pitchFamily="34" charset="-120"/>
              </a:rPr>
              <a:t>: Mehmet Burak</a:t>
            </a:r>
            <a:r>
              <a:rPr lang="tr-TR" sz="1320">
                <a:solidFill>
                  <a:srgbClr val="172033"/>
                </a:solidFill>
                <a:latin typeface="Aptos" pitchFamily="34" charset="0"/>
                <a:ea typeface="Aptos" pitchFamily="34" charset="-122"/>
                <a:cs typeface="Aptos" pitchFamily="34" charset="-120"/>
              </a:rPr>
              <a:t> ALTINTAŞ</a:t>
            </a:r>
            <a:endParaRPr lang="en-US" sz="1320" dirty="0"/>
          </a:p>
          <a:p>
            <a:pPr marL="0" indent="0">
              <a:buNone/>
            </a:pPr>
            <a:r>
              <a:rPr lang="en-US" sz="1320" dirty="0">
                <a:solidFill>
                  <a:srgbClr val="172033"/>
                </a:solidFill>
                <a:latin typeface="Aptos" pitchFamily="34" charset="0"/>
                <a:ea typeface="Aptos" pitchFamily="34" charset="-122"/>
                <a:cs typeface="Aptos" pitchFamily="34" charset="-120"/>
              </a:rPr>
              <a:t>Project Platform: 2-RX </a:t>
            </a:r>
            <a:r>
              <a:rPr lang="en-US" sz="1320">
                <a:solidFill>
                  <a:srgbClr val="172033"/>
                </a:solidFill>
                <a:latin typeface="Aptos" pitchFamily="34" charset="0"/>
                <a:ea typeface="Aptos" pitchFamily="34" charset="-122"/>
                <a:cs typeface="Aptos" pitchFamily="34" charset="-120"/>
              </a:rPr>
              <a:t>ADALM-Pluto </a:t>
            </a:r>
            <a:r>
              <a:rPr lang="tr-TR" sz="1320">
                <a:solidFill>
                  <a:srgbClr val="172033"/>
                </a:solidFill>
                <a:latin typeface="Aptos" pitchFamily="34" charset="0"/>
                <a:ea typeface="Aptos" pitchFamily="34" charset="-122"/>
                <a:cs typeface="Aptos" pitchFamily="34" charset="-120"/>
              </a:rPr>
              <a:t>Software Defined Radio (SDR)</a:t>
            </a:r>
          </a:p>
          <a:p>
            <a:pPr marL="0" indent="0">
              <a:buNone/>
            </a:pPr>
            <a:r>
              <a:rPr lang="tr-TR" sz="1320"/>
              <a:t>Instructor : Prof. Dr. Engin MAŞAZADE</a:t>
            </a:r>
            <a:endParaRPr lang="en-US" sz="1320" dirty="0"/>
          </a:p>
        </p:txBody>
      </p:sp>
      <p:pic>
        <p:nvPicPr>
          <p:cNvPr id="8" name="Image 1" descr="/mnt/data/Kalman_Project_Scheme.png"/>
          <p:cNvPicPr>
            <a:picLocks noChangeAspect="1"/>
          </p:cNvPicPr>
          <p:nvPr/>
        </p:nvPicPr>
        <p:blipFill>
          <a:blip r:embed="rId4"/>
          <a:stretch>
            <a:fillRect/>
          </a:stretch>
        </p:blipFill>
        <p:spPr>
          <a:xfrm>
            <a:off x="7360920" y="1629676"/>
            <a:ext cx="4160520" cy="2775687"/>
          </a:xfrm>
          <a:prstGeom prst="rect">
            <a:avLst/>
          </a:prstGeom>
        </p:spPr>
      </p:pic>
      <p:sp>
        <p:nvSpPr>
          <p:cNvPr id="9" name="Text 5"/>
          <p:cNvSpPr/>
          <p:nvPr/>
        </p:nvSpPr>
        <p:spPr>
          <a:xfrm>
            <a:off x="685800" y="5532120"/>
            <a:ext cx="10881360" cy="411480"/>
          </a:xfrm>
          <a:prstGeom prst="rect">
            <a:avLst/>
          </a:prstGeom>
          <a:noFill/>
          <a:ln/>
        </p:spPr>
        <p:txBody>
          <a:bodyPr wrap="square" lIns="0" tIns="0" rIns="0" bIns="0" rtlCol="0" anchor="ctr">
            <a:normAutofit/>
          </a:bodyPr>
          <a:lstStyle/>
          <a:p>
            <a:pPr marL="0" indent="0">
              <a:buNone/>
            </a:pPr>
            <a:r>
              <a:rPr lang="en-US" sz="1700" b="1" dirty="0">
                <a:solidFill>
                  <a:srgbClr val="172033"/>
                </a:solidFill>
                <a:latin typeface="Aptos" pitchFamily="34" charset="0"/>
                <a:ea typeface="Aptos" pitchFamily="34" charset="-122"/>
                <a:cs typeface="Aptos" pitchFamily="34" charset="-120"/>
              </a:rPr>
              <a:t>Goal: estimate the dominant DoA, track it with IMM Kalman filtering, and switch beamforming strategy when a jammer appears.</a:t>
            </a:r>
            <a:endParaRPr lang="en-US" sz="1700" dirty="0"/>
          </a:p>
        </p:txBody>
      </p:sp>
      <p:sp>
        <p:nvSpPr>
          <p:cNvPr id="10" name="Text 6"/>
          <p:cNvSpPr/>
          <p:nvPr/>
        </p:nvSpPr>
        <p:spPr>
          <a:xfrm>
            <a:off x="457200" y="6510528"/>
            <a:ext cx="11247120" cy="164592"/>
          </a:xfrm>
          <a:prstGeom prst="rect">
            <a:avLst/>
          </a:prstGeom>
          <a:noFill/>
          <a:ln/>
        </p:spPr>
        <p:txBody>
          <a:bodyPr wrap="square" lIns="0" tIns="0" rIns="0" bIns="0" rtlCol="0" anchor="ctr">
            <a:normAutofit/>
          </a:bodyPr>
          <a:lstStyle/>
          <a:p>
            <a:pPr marL="0" indent="0" algn="r">
              <a:buNone/>
            </a:pPr>
            <a:r>
              <a:rPr lang="en-US" sz="750" dirty="0">
                <a:solidFill>
                  <a:srgbClr val="94A3B8"/>
                </a:solidFill>
                <a:latin typeface="Aptos" pitchFamily="34" charset="0"/>
                <a:ea typeface="Aptos" pitchFamily="34" charset="-122"/>
                <a:cs typeface="Aptos" pitchFamily="34" charset="-120"/>
              </a:rPr>
              <a:t>EE4084 Kalman and Bayesian Filters • Project Presentation • 1/15</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37744"/>
            <a:ext cx="11247120" cy="420624"/>
          </a:xfrm>
          <a:prstGeom prst="rect">
            <a:avLst/>
          </a:prstGeom>
          <a:noFill/>
          <a:ln/>
        </p:spPr>
        <p:txBody>
          <a:bodyPr wrap="square" lIns="0" tIns="0" rIns="0" bIns="0" rtlCol="0" anchor="ctr">
            <a:normAutofit/>
          </a:bodyPr>
          <a:lstStyle/>
          <a:p>
            <a:pPr marL="0" indent="0">
              <a:buNone/>
            </a:pPr>
            <a:r>
              <a:rPr lang="en-US" sz="2200" b="1" dirty="0">
                <a:solidFill>
                  <a:srgbClr val="172033"/>
                </a:solidFill>
                <a:latin typeface="Aptos Display" pitchFamily="34" charset="0"/>
                <a:ea typeface="Aptos Display" pitchFamily="34" charset="-122"/>
                <a:cs typeface="Aptos Display" pitchFamily="34" charset="-120"/>
              </a:rPr>
              <a:t>Presentation roadmap and required project points</a:t>
            </a:r>
            <a:endParaRPr lang="en-US" sz="2200" dirty="0"/>
          </a:p>
        </p:txBody>
      </p:sp>
      <p:sp>
        <p:nvSpPr>
          <p:cNvPr id="3" name="Text 1"/>
          <p:cNvSpPr/>
          <p:nvPr/>
        </p:nvSpPr>
        <p:spPr>
          <a:xfrm>
            <a:off x="457200" y="704088"/>
            <a:ext cx="11247120" cy="237744"/>
          </a:xfrm>
          <a:prstGeom prst="rect">
            <a:avLst/>
          </a:prstGeom>
          <a:noFill/>
          <a:ln/>
        </p:spPr>
        <p:txBody>
          <a:bodyPr wrap="square" lIns="0" tIns="0" rIns="0" bIns="0" rtlCol="0" anchor="ctr">
            <a:normAutofit/>
          </a:bodyPr>
          <a:lstStyle/>
          <a:p>
            <a:pPr marL="0" indent="0">
              <a:buNone/>
            </a:pPr>
            <a:r>
              <a:rPr lang="en-US" sz="1150" dirty="0">
                <a:solidFill>
                  <a:srgbClr val="5D667A"/>
                </a:solidFill>
                <a:latin typeface="Aptos" pitchFamily="34" charset="0"/>
                <a:ea typeface="Aptos" pitchFamily="34" charset="-122"/>
                <a:cs typeface="Aptos" pitchFamily="34" charset="-120"/>
              </a:rPr>
              <a:t>The video will explicitly cover motivation, models, filter design, comparative results, and system demonstration.</a:t>
            </a:r>
            <a:endParaRPr lang="en-US" sz="1150" dirty="0"/>
          </a:p>
        </p:txBody>
      </p:sp>
      <p:sp>
        <p:nvSpPr>
          <p:cNvPr id="4" name="Shape 2"/>
          <p:cNvSpPr/>
          <p:nvPr/>
        </p:nvSpPr>
        <p:spPr>
          <a:xfrm>
            <a:off x="594360" y="1143000"/>
            <a:ext cx="3474720" cy="960120"/>
          </a:xfrm>
          <a:prstGeom prst="roundRect">
            <a:avLst>
              <a:gd name="adj" fmla="val 7619"/>
            </a:avLst>
          </a:prstGeom>
          <a:solidFill>
            <a:srgbClr val="FFFFFF"/>
          </a:solidFill>
          <a:ln w="12700">
            <a:solidFill>
              <a:srgbClr val="E2E8F0"/>
            </a:solidFill>
            <a:prstDash val="solid"/>
          </a:ln>
        </p:spPr>
        <p:txBody>
          <a:bodyPr/>
          <a:p/>
        </p:txBody>
      </p:sp>
      <p:sp>
        <p:nvSpPr>
          <p:cNvPr id="5" name="Text 3"/>
          <p:cNvSpPr/>
          <p:nvPr/>
        </p:nvSpPr>
        <p:spPr>
          <a:xfrm>
            <a:off x="758952" y="1271016"/>
            <a:ext cx="3145536" cy="219456"/>
          </a:xfrm>
          <a:prstGeom prst="rect">
            <a:avLst/>
          </a:prstGeom>
          <a:noFill/>
          <a:ln/>
        </p:spPr>
        <p:txBody>
          <a:bodyPr wrap="square" lIns="0" tIns="0" rIns="0" bIns="0" rtlCol="0" anchor="ctr">
            <a:normAutofit/>
          </a:bodyPr>
          <a:lstStyle/>
          <a:p>
            <a:pPr marL="0" indent="0">
              <a:buNone/>
            </a:pPr>
            <a:r>
              <a:rPr lang="en-US" sz="1100" b="1" dirty="0">
                <a:solidFill>
                  <a:srgbClr val="DC2626"/>
                </a:solidFill>
                <a:latin typeface="Aptos" pitchFamily="34" charset="0"/>
                <a:ea typeface="Aptos" pitchFamily="34" charset="-122"/>
                <a:cs typeface="Aptos" pitchFamily="34" charset="-120"/>
              </a:rPr>
              <a:t>1. Motivation</a:t>
            </a:r>
            <a:endParaRPr lang="en-US" sz="1100" dirty="0"/>
          </a:p>
        </p:txBody>
      </p:sp>
      <p:sp>
        <p:nvSpPr>
          <p:cNvPr id="6" name="Text 4"/>
          <p:cNvSpPr/>
          <p:nvPr/>
        </p:nvSpPr>
        <p:spPr>
          <a:xfrm>
            <a:off x="758952" y="1581912"/>
            <a:ext cx="3145536" cy="429768"/>
          </a:xfrm>
          <a:prstGeom prst="rect">
            <a:avLst/>
          </a:prstGeom>
          <a:noFill/>
          <a:ln/>
        </p:spPr>
        <p:txBody>
          <a:bodyPr wrap="square" lIns="0" tIns="0" rIns="0" bIns="0" rtlCol="0" anchor="ctr">
            <a:normAutofit/>
          </a:bodyPr>
          <a:lstStyle/>
          <a:p>
            <a:pPr marL="0" indent="0">
              <a:buNone/>
            </a:pPr>
            <a:r>
              <a:rPr lang="en-US" sz="1350" dirty="0">
                <a:solidFill>
                  <a:srgbClr val="172033"/>
                </a:solidFill>
                <a:latin typeface="Aptos" pitchFamily="34" charset="0"/>
                <a:ea typeface="Aptos" pitchFamily="34" charset="-122"/>
                <a:cs typeface="Aptos" pitchFamily="34" charset="-120"/>
              </a:rPr>
              <a:t>Why DoA tracking alone is not enough when a stronger jammer dominates the receiver.</a:t>
            </a:r>
            <a:endParaRPr lang="en-US" sz="1350" dirty="0"/>
          </a:p>
        </p:txBody>
      </p:sp>
      <p:sp>
        <p:nvSpPr>
          <p:cNvPr id="7" name="Shape 5"/>
          <p:cNvSpPr/>
          <p:nvPr/>
        </p:nvSpPr>
        <p:spPr>
          <a:xfrm>
            <a:off x="4343400" y="1143000"/>
            <a:ext cx="3474720" cy="960120"/>
          </a:xfrm>
          <a:prstGeom prst="roundRect">
            <a:avLst>
              <a:gd name="adj" fmla="val 7619"/>
            </a:avLst>
          </a:prstGeom>
          <a:solidFill>
            <a:srgbClr val="FFFFFF"/>
          </a:solidFill>
          <a:ln w="12700">
            <a:solidFill>
              <a:srgbClr val="E2E8F0"/>
            </a:solidFill>
            <a:prstDash val="solid"/>
          </a:ln>
        </p:spPr>
        <p:txBody>
          <a:bodyPr/>
          <a:p/>
        </p:txBody>
      </p:sp>
      <p:sp>
        <p:nvSpPr>
          <p:cNvPr id="8" name="Text 6"/>
          <p:cNvSpPr/>
          <p:nvPr/>
        </p:nvSpPr>
        <p:spPr>
          <a:xfrm>
            <a:off x="4507992" y="1271016"/>
            <a:ext cx="3145536" cy="219456"/>
          </a:xfrm>
          <a:prstGeom prst="rect">
            <a:avLst/>
          </a:prstGeom>
          <a:noFill/>
          <a:ln/>
        </p:spPr>
        <p:txBody>
          <a:bodyPr wrap="square" lIns="0" tIns="0" rIns="0" bIns="0" rtlCol="0" anchor="ctr">
            <a:normAutofit/>
          </a:bodyPr>
          <a:lstStyle/>
          <a:p>
            <a:pPr marL="0" indent="0">
              <a:buNone/>
            </a:pPr>
            <a:r>
              <a:rPr lang="en-US" sz="1100" b="1" dirty="0">
                <a:solidFill>
                  <a:srgbClr val="2563EB"/>
                </a:solidFill>
                <a:latin typeface="Aptos" pitchFamily="34" charset="0"/>
                <a:ea typeface="Aptos" pitchFamily="34" charset="-122"/>
                <a:cs typeface="Aptos" pitchFamily="34" charset="-120"/>
              </a:rPr>
              <a:t>2. Process model</a:t>
            </a:r>
            <a:endParaRPr lang="en-US" sz="1100" dirty="0"/>
          </a:p>
        </p:txBody>
      </p:sp>
      <p:sp>
        <p:nvSpPr>
          <p:cNvPr id="9" name="Text 7"/>
          <p:cNvSpPr/>
          <p:nvPr/>
        </p:nvSpPr>
        <p:spPr>
          <a:xfrm>
            <a:off x="4507992" y="1581912"/>
            <a:ext cx="3145536" cy="429768"/>
          </a:xfrm>
          <a:prstGeom prst="rect">
            <a:avLst/>
          </a:prstGeom>
          <a:noFill/>
          <a:ln/>
        </p:spPr>
        <p:txBody>
          <a:bodyPr wrap="square" lIns="0" tIns="0" rIns="0" bIns="0" rtlCol="0" anchor="ctr">
            <a:normAutofit/>
          </a:bodyPr>
          <a:lstStyle/>
          <a:p>
            <a:pPr marL="0" indent="0">
              <a:buNone/>
            </a:pPr>
            <a:r>
              <a:rPr lang="en-US" sz="1350" dirty="0">
                <a:solidFill>
                  <a:srgbClr val="172033"/>
                </a:solidFill>
                <a:latin typeface="Aptos" pitchFamily="34" charset="0"/>
                <a:ea typeface="Aptos" pitchFamily="34" charset="-122"/>
                <a:cs typeface="Aptos" pitchFamily="34" charset="-120"/>
              </a:rPr>
              <a:t>Kalman/IMM angular state transition model: angle, angular velocity, angular acceleration.</a:t>
            </a:r>
            <a:endParaRPr lang="en-US" sz="1350" dirty="0"/>
          </a:p>
        </p:txBody>
      </p:sp>
      <p:sp>
        <p:nvSpPr>
          <p:cNvPr id="10" name="Shape 8"/>
          <p:cNvSpPr/>
          <p:nvPr/>
        </p:nvSpPr>
        <p:spPr>
          <a:xfrm>
            <a:off x="8092440" y="1143000"/>
            <a:ext cx="3474720" cy="960120"/>
          </a:xfrm>
          <a:prstGeom prst="roundRect">
            <a:avLst>
              <a:gd name="adj" fmla="val 7619"/>
            </a:avLst>
          </a:prstGeom>
          <a:solidFill>
            <a:srgbClr val="FFFFFF"/>
          </a:solidFill>
          <a:ln w="12700">
            <a:solidFill>
              <a:srgbClr val="E2E8F0"/>
            </a:solidFill>
            <a:prstDash val="solid"/>
          </a:ln>
        </p:spPr>
        <p:txBody>
          <a:bodyPr/>
          <a:p/>
        </p:txBody>
      </p:sp>
      <p:sp>
        <p:nvSpPr>
          <p:cNvPr id="11" name="Text 9"/>
          <p:cNvSpPr/>
          <p:nvPr/>
        </p:nvSpPr>
        <p:spPr>
          <a:xfrm>
            <a:off x="8257032" y="1271016"/>
            <a:ext cx="3145536" cy="219456"/>
          </a:xfrm>
          <a:prstGeom prst="rect">
            <a:avLst/>
          </a:prstGeom>
          <a:noFill/>
          <a:ln/>
        </p:spPr>
        <p:txBody>
          <a:bodyPr wrap="square" lIns="0" tIns="0" rIns="0" bIns="0" rtlCol="0" anchor="ctr">
            <a:normAutofit/>
          </a:bodyPr>
          <a:lstStyle/>
          <a:p>
            <a:pPr marL="0" indent="0">
              <a:buNone/>
            </a:pPr>
            <a:r>
              <a:rPr lang="en-US" sz="1100" b="1" dirty="0">
                <a:solidFill>
                  <a:srgbClr val="059669"/>
                </a:solidFill>
                <a:latin typeface="Aptos" pitchFamily="34" charset="0"/>
                <a:ea typeface="Aptos" pitchFamily="34" charset="-122"/>
                <a:cs typeface="Aptos" pitchFamily="34" charset="-120"/>
              </a:rPr>
              <a:t>3. Measurement model</a:t>
            </a:r>
            <a:endParaRPr lang="en-US" sz="1100" dirty="0"/>
          </a:p>
        </p:txBody>
      </p:sp>
      <p:sp>
        <p:nvSpPr>
          <p:cNvPr id="12" name="Text 10"/>
          <p:cNvSpPr/>
          <p:nvPr/>
        </p:nvSpPr>
        <p:spPr>
          <a:xfrm>
            <a:off x="8257032" y="1581912"/>
            <a:ext cx="3145536" cy="429768"/>
          </a:xfrm>
          <a:prstGeom prst="rect">
            <a:avLst/>
          </a:prstGeom>
          <a:noFill/>
          <a:ln/>
        </p:spPr>
        <p:txBody>
          <a:bodyPr wrap="square" lIns="0" tIns="0" rIns="0" bIns="0" rtlCol="0" anchor="ctr">
            <a:normAutofit/>
          </a:bodyPr>
          <a:lstStyle/>
          <a:p>
            <a:pPr marL="0" indent="0">
              <a:buNone/>
            </a:pPr>
            <a:r>
              <a:rPr lang="en-US" sz="1350" dirty="0">
                <a:solidFill>
                  <a:srgbClr val="172033"/>
                </a:solidFill>
                <a:latin typeface="Aptos" pitchFamily="34" charset="0"/>
                <a:ea typeface="Aptos" pitchFamily="34" charset="-122"/>
                <a:cs typeface="Aptos" pitchFamily="34" charset="-120"/>
              </a:rPr>
              <a:t>MUSIC DoA estimate used as the scalar angle measurement of the Kalman filter.</a:t>
            </a:r>
            <a:endParaRPr lang="en-US" sz="1350" dirty="0"/>
          </a:p>
        </p:txBody>
      </p:sp>
      <p:sp>
        <p:nvSpPr>
          <p:cNvPr id="13" name="Shape 11"/>
          <p:cNvSpPr/>
          <p:nvPr/>
        </p:nvSpPr>
        <p:spPr>
          <a:xfrm>
            <a:off x="594360" y="2487168"/>
            <a:ext cx="3474720" cy="960120"/>
          </a:xfrm>
          <a:prstGeom prst="roundRect">
            <a:avLst>
              <a:gd name="adj" fmla="val 7619"/>
            </a:avLst>
          </a:prstGeom>
          <a:solidFill>
            <a:srgbClr val="FFFFFF"/>
          </a:solidFill>
          <a:ln w="12700">
            <a:solidFill>
              <a:srgbClr val="E2E8F0"/>
            </a:solidFill>
            <a:prstDash val="solid"/>
          </a:ln>
        </p:spPr>
        <p:txBody>
          <a:bodyPr/>
          <a:p/>
        </p:txBody>
      </p:sp>
      <p:sp>
        <p:nvSpPr>
          <p:cNvPr id="14" name="Text 12"/>
          <p:cNvSpPr/>
          <p:nvPr/>
        </p:nvSpPr>
        <p:spPr>
          <a:xfrm>
            <a:off x="758952" y="2615184"/>
            <a:ext cx="3145536" cy="219456"/>
          </a:xfrm>
          <a:prstGeom prst="rect">
            <a:avLst/>
          </a:prstGeom>
          <a:noFill/>
          <a:ln/>
        </p:spPr>
        <p:txBody>
          <a:bodyPr wrap="square" lIns="0" tIns="0" rIns="0" bIns="0" rtlCol="0" anchor="ctr">
            <a:normAutofit/>
          </a:bodyPr>
          <a:lstStyle/>
          <a:p>
            <a:pPr marL="0" indent="0">
              <a:buNone/>
            </a:pPr>
            <a:r>
              <a:rPr lang="en-US" sz="1100" b="1" dirty="0">
                <a:solidFill>
                  <a:srgbClr val="EA580C"/>
                </a:solidFill>
                <a:latin typeface="Aptos" pitchFamily="34" charset="0"/>
                <a:ea typeface="Aptos" pitchFamily="34" charset="-122"/>
                <a:cs typeface="Aptos" pitchFamily="34" charset="-120"/>
              </a:rPr>
              <a:t>4. Filter design</a:t>
            </a:r>
            <a:endParaRPr lang="en-US" sz="1100" dirty="0"/>
          </a:p>
        </p:txBody>
      </p:sp>
      <p:sp>
        <p:nvSpPr>
          <p:cNvPr id="15" name="Text 13"/>
          <p:cNvSpPr/>
          <p:nvPr/>
        </p:nvSpPr>
        <p:spPr>
          <a:xfrm>
            <a:off x="758952" y="2926080"/>
            <a:ext cx="3145536" cy="429768"/>
          </a:xfrm>
          <a:prstGeom prst="rect">
            <a:avLst/>
          </a:prstGeom>
          <a:noFill/>
          <a:ln/>
        </p:spPr>
        <p:txBody>
          <a:bodyPr wrap="square" lIns="0" tIns="0" rIns="0" bIns="0" rtlCol="0" anchor="ctr">
            <a:normAutofit/>
          </a:bodyPr>
          <a:lstStyle/>
          <a:p>
            <a:pPr marL="0" indent="0">
              <a:buNone/>
            </a:pPr>
            <a:r>
              <a:rPr lang="en-US" sz="1350" dirty="0">
                <a:solidFill>
                  <a:srgbClr val="172033"/>
                </a:solidFill>
                <a:latin typeface="Aptos" pitchFamily="34" charset="0"/>
                <a:ea typeface="Aptos" pitchFamily="34" charset="-122"/>
                <a:cs typeface="Aptos" pitchFamily="34" charset="-120"/>
              </a:rPr>
              <a:t>IMM Kalman filter with CP, CV, and CA motion models and adaptive measurement noise.</a:t>
            </a:r>
            <a:endParaRPr lang="en-US" sz="1350" dirty="0"/>
          </a:p>
        </p:txBody>
      </p:sp>
      <p:sp>
        <p:nvSpPr>
          <p:cNvPr id="16" name="Shape 14"/>
          <p:cNvSpPr/>
          <p:nvPr/>
        </p:nvSpPr>
        <p:spPr>
          <a:xfrm>
            <a:off x="4343400" y="2487168"/>
            <a:ext cx="3474720" cy="960120"/>
          </a:xfrm>
          <a:prstGeom prst="roundRect">
            <a:avLst>
              <a:gd name="adj" fmla="val 7619"/>
            </a:avLst>
          </a:prstGeom>
          <a:solidFill>
            <a:srgbClr val="FFFFFF"/>
          </a:solidFill>
          <a:ln w="12700">
            <a:solidFill>
              <a:srgbClr val="E2E8F0"/>
            </a:solidFill>
            <a:prstDash val="solid"/>
          </a:ln>
        </p:spPr>
        <p:txBody>
          <a:bodyPr/>
          <a:p/>
        </p:txBody>
      </p:sp>
      <p:sp>
        <p:nvSpPr>
          <p:cNvPr id="17" name="Text 15"/>
          <p:cNvSpPr/>
          <p:nvPr/>
        </p:nvSpPr>
        <p:spPr>
          <a:xfrm>
            <a:off x="4507992" y="2615184"/>
            <a:ext cx="3145536" cy="219456"/>
          </a:xfrm>
          <a:prstGeom prst="rect">
            <a:avLst/>
          </a:prstGeom>
          <a:noFill/>
          <a:ln/>
        </p:spPr>
        <p:txBody>
          <a:bodyPr wrap="square" lIns="0" tIns="0" rIns="0" bIns="0" rtlCol="0" anchor="ctr">
            <a:normAutofit/>
          </a:bodyPr>
          <a:lstStyle/>
          <a:p>
            <a:pPr marL="0" indent="0">
              <a:buNone/>
            </a:pPr>
            <a:r>
              <a:rPr lang="en-US" sz="1100" b="1" dirty="0">
                <a:solidFill>
                  <a:srgbClr val="7C3AED"/>
                </a:solidFill>
                <a:latin typeface="Aptos" pitchFamily="34" charset="0"/>
                <a:ea typeface="Aptos" pitchFamily="34" charset="-122"/>
                <a:cs typeface="Aptos" pitchFamily="34" charset="-120"/>
              </a:rPr>
              <a:t>5. Comparative results</a:t>
            </a:r>
            <a:endParaRPr lang="en-US" sz="1100" dirty="0"/>
          </a:p>
        </p:txBody>
      </p:sp>
      <p:sp>
        <p:nvSpPr>
          <p:cNvPr id="18" name="Text 16"/>
          <p:cNvSpPr/>
          <p:nvPr/>
        </p:nvSpPr>
        <p:spPr>
          <a:xfrm>
            <a:off x="4507992" y="2926080"/>
            <a:ext cx="3145536" cy="429768"/>
          </a:xfrm>
          <a:prstGeom prst="rect">
            <a:avLst/>
          </a:prstGeom>
          <a:noFill/>
          <a:ln/>
        </p:spPr>
        <p:txBody>
          <a:bodyPr wrap="square" lIns="0" tIns="0" rIns="0" bIns="0" rtlCol="0" anchor="ctr">
            <a:normAutofit/>
          </a:bodyPr>
          <a:lstStyle/>
          <a:p>
            <a:pPr marL="0" indent="0">
              <a:buNone/>
            </a:pPr>
            <a:r>
              <a:rPr lang="en-US" sz="1350" dirty="0">
                <a:solidFill>
                  <a:srgbClr val="172033"/>
                </a:solidFill>
                <a:latin typeface="Aptos" pitchFamily="34" charset="0"/>
                <a:ea typeface="Aptos" pitchFamily="34" charset="-122"/>
                <a:cs typeface="Aptos" pitchFamily="34" charset="-120"/>
              </a:rPr>
              <a:t>No-jammer result versus jammer-present result with suppression and tracking metrics.</a:t>
            </a:r>
            <a:endParaRPr lang="en-US" sz="1350" dirty="0"/>
          </a:p>
        </p:txBody>
      </p:sp>
      <p:sp>
        <p:nvSpPr>
          <p:cNvPr id="19" name="Shape 17"/>
          <p:cNvSpPr/>
          <p:nvPr/>
        </p:nvSpPr>
        <p:spPr>
          <a:xfrm>
            <a:off x="8092440" y="2487168"/>
            <a:ext cx="3474720" cy="960120"/>
          </a:xfrm>
          <a:prstGeom prst="roundRect">
            <a:avLst>
              <a:gd name="adj" fmla="val 7619"/>
            </a:avLst>
          </a:prstGeom>
          <a:solidFill>
            <a:srgbClr val="FFFFFF"/>
          </a:solidFill>
          <a:ln w="12700">
            <a:solidFill>
              <a:srgbClr val="E2E8F0"/>
            </a:solidFill>
            <a:prstDash val="solid"/>
          </a:ln>
        </p:spPr>
        <p:txBody>
          <a:bodyPr/>
          <a:p/>
        </p:txBody>
      </p:sp>
      <p:sp>
        <p:nvSpPr>
          <p:cNvPr id="20" name="Text 18"/>
          <p:cNvSpPr/>
          <p:nvPr/>
        </p:nvSpPr>
        <p:spPr>
          <a:xfrm>
            <a:off x="8257032" y="2615184"/>
            <a:ext cx="3145536" cy="219456"/>
          </a:xfrm>
          <a:prstGeom prst="rect">
            <a:avLst/>
          </a:prstGeom>
          <a:noFill/>
          <a:ln/>
        </p:spPr>
        <p:txBody>
          <a:bodyPr wrap="square" lIns="0" tIns="0" rIns="0" bIns="0" rtlCol="0" anchor="ctr">
            <a:normAutofit/>
          </a:bodyPr>
          <a:lstStyle/>
          <a:p>
            <a:pPr marL="0" indent="0">
              <a:buNone/>
            </a:pPr>
            <a:r>
              <a:rPr lang="en-US" sz="1100" b="1" dirty="0">
                <a:solidFill>
                  <a:srgbClr val="2563EB"/>
                </a:solidFill>
                <a:latin typeface="Aptos" pitchFamily="34" charset="0"/>
                <a:ea typeface="Aptos" pitchFamily="34" charset="-122"/>
                <a:cs typeface="Aptos" pitchFamily="34" charset="-120"/>
              </a:rPr>
              <a:t>6. Demonstration</a:t>
            </a:r>
            <a:endParaRPr lang="en-US" sz="1100" dirty="0"/>
          </a:p>
        </p:txBody>
      </p:sp>
      <p:sp>
        <p:nvSpPr>
          <p:cNvPr id="21" name="Text 19"/>
          <p:cNvSpPr/>
          <p:nvPr/>
        </p:nvSpPr>
        <p:spPr>
          <a:xfrm>
            <a:off x="8257032" y="2926080"/>
            <a:ext cx="3145536" cy="429768"/>
          </a:xfrm>
          <a:prstGeom prst="rect">
            <a:avLst/>
          </a:prstGeom>
          <a:noFill/>
          <a:ln/>
        </p:spPr>
        <p:txBody>
          <a:bodyPr wrap="square" lIns="0" tIns="0" rIns="0" bIns="0" rtlCol="0" anchor="ctr">
            <a:normAutofit/>
          </a:bodyPr>
          <a:lstStyle/>
          <a:p>
            <a:pPr marL="0" indent="0">
              <a:buNone/>
            </a:pPr>
            <a:r>
              <a:rPr lang="en-US" sz="1350" dirty="0">
                <a:solidFill>
                  <a:srgbClr val="172033"/>
                </a:solidFill>
                <a:latin typeface="Aptos" pitchFamily="34" charset="0"/>
                <a:ea typeface="Aptos" pitchFamily="34" charset="-122"/>
                <a:cs typeface="Aptos" pitchFamily="34" charset="-120"/>
              </a:rPr>
              <a:t>Bandicam recording of GUI: Tx1 off, Tx1 on, then return to no-jammer mode.</a:t>
            </a:r>
            <a:endParaRPr lang="en-US" sz="1350" dirty="0"/>
          </a:p>
        </p:txBody>
      </p:sp>
      <p:sp>
        <p:nvSpPr>
          <p:cNvPr id="24" name="Text 22"/>
          <p:cNvSpPr/>
          <p:nvPr/>
        </p:nvSpPr>
        <p:spPr>
          <a:xfrm>
            <a:off x="457200" y="6510528"/>
            <a:ext cx="11247120" cy="164592"/>
          </a:xfrm>
          <a:prstGeom prst="rect">
            <a:avLst/>
          </a:prstGeom>
          <a:noFill/>
          <a:ln/>
        </p:spPr>
        <p:txBody>
          <a:bodyPr wrap="square" lIns="0" tIns="0" rIns="0" bIns="0" rtlCol="0" anchor="ctr">
            <a:normAutofit/>
          </a:bodyPr>
          <a:lstStyle/>
          <a:p>
            <a:pPr marL="0" indent="0" algn="r">
              <a:buNone/>
            </a:pPr>
            <a:r>
              <a:rPr lang="en-US" sz="750" dirty="0">
                <a:solidFill>
                  <a:srgbClr val="94A3B8"/>
                </a:solidFill>
                <a:latin typeface="Aptos" pitchFamily="34" charset="0"/>
                <a:ea typeface="Aptos" pitchFamily="34" charset="-122"/>
                <a:cs typeface="Aptos" pitchFamily="34" charset="-120"/>
              </a:rPr>
              <a:t>EE4084 Kalman and Bayesian Filters • Project Presentation • 2/15</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37744"/>
            <a:ext cx="11247120" cy="420624"/>
          </a:xfrm>
          <a:prstGeom prst="rect">
            <a:avLst/>
          </a:prstGeom>
          <a:noFill/>
          <a:ln/>
        </p:spPr>
        <p:txBody>
          <a:bodyPr wrap="square" lIns="0" tIns="0" rIns="0" bIns="0" rtlCol="0" anchor="ctr">
            <a:normAutofit/>
          </a:bodyPr>
          <a:lstStyle/>
          <a:p>
            <a:pPr marL="0" indent="0">
              <a:buNone/>
            </a:pPr>
            <a:r>
              <a:rPr lang="en-US" sz="2200" b="1" dirty="0">
                <a:solidFill>
                  <a:srgbClr val="172033"/>
                </a:solidFill>
                <a:latin typeface="Aptos Display" pitchFamily="34" charset="0"/>
                <a:ea typeface="Aptos Display" pitchFamily="34" charset="-122"/>
                <a:cs typeface="Aptos Display" pitchFamily="34" charset="-120"/>
              </a:rPr>
              <a:t>Motivation: a strong jammer changes the meaning of the DoA estimate</a:t>
            </a:r>
            <a:endParaRPr lang="en-US" sz="2200" dirty="0"/>
          </a:p>
        </p:txBody>
      </p:sp>
      <p:sp>
        <p:nvSpPr>
          <p:cNvPr id="3" name="Text 1"/>
          <p:cNvSpPr/>
          <p:nvPr/>
        </p:nvSpPr>
        <p:spPr>
          <a:xfrm>
            <a:off x="457200" y="704088"/>
            <a:ext cx="11247120" cy="237744"/>
          </a:xfrm>
          <a:prstGeom prst="rect">
            <a:avLst/>
          </a:prstGeom>
          <a:noFill/>
          <a:ln/>
        </p:spPr>
        <p:txBody>
          <a:bodyPr wrap="square" lIns="0" tIns="0" rIns="0" bIns="0" rtlCol="0" anchor="ctr">
            <a:normAutofit/>
          </a:bodyPr>
          <a:lstStyle/>
          <a:p>
            <a:pPr marL="0" indent="0">
              <a:buNone/>
            </a:pPr>
            <a:r>
              <a:rPr lang="en-US" sz="1150" dirty="0">
                <a:solidFill>
                  <a:srgbClr val="5D667A"/>
                </a:solidFill>
                <a:latin typeface="Aptos" pitchFamily="34" charset="0"/>
                <a:ea typeface="Aptos" pitchFamily="34" charset="-122"/>
                <a:cs typeface="Aptos" pitchFamily="34" charset="-120"/>
              </a:rPr>
              <a:t>With two receiver channels, the receiver can track one dominant source, so the operating mode is essential.</a:t>
            </a:r>
            <a:endParaRPr lang="en-US" sz="1150" dirty="0"/>
          </a:p>
        </p:txBody>
      </p:sp>
      <p:sp>
        <p:nvSpPr>
          <p:cNvPr id="4" name="Text 2"/>
          <p:cNvSpPr/>
          <p:nvPr/>
        </p:nvSpPr>
        <p:spPr>
          <a:xfrm>
            <a:off x="658368" y="1142423"/>
            <a:ext cx="4572000" cy="237744"/>
          </a:xfrm>
          <a:prstGeom prst="rect">
            <a:avLst/>
          </a:prstGeom>
          <a:noFill/>
          <a:ln/>
        </p:spPr>
        <p:txBody>
          <a:bodyPr wrap="square" lIns="0" tIns="0" rIns="0" bIns="0" rtlCol="0" anchor="ctr">
            <a:normAutofit/>
          </a:bodyPr>
          <a:lstStyle/>
          <a:p>
            <a:pPr marL="0" indent="0">
              <a:buNone/>
            </a:pPr>
            <a:r>
              <a:rPr lang="en-US" sz="1400" b="1" dirty="0">
                <a:solidFill>
                  <a:srgbClr val="DC2626"/>
                </a:solidFill>
                <a:latin typeface="Aptos" pitchFamily="34" charset="0"/>
                <a:ea typeface="Aptos" pitchFamily="34" charset="-122"/>
                <a:cs typeface="Aptos" pitchFamily="34" charset="-120"/>
              </a:rPr>
              <a:t>Problem in </a:t>
            </a:r>
            <a:r>
              <a:rPr lang="en-US" sz="1400" b="1">
                <a:solidFill>
                  <a:srgbClr val="DC2626"/>
                </a:solidFill>
                <a:latin typeface="Aptos" pitchFamily="34" charset="0"/>
                <a:ea typeface="Aptos" pitchFamily="34" charset="-122"/>
                <a:cs typeface="Aptos" pitchFamily="34" charset="-120"/>
              </a:rPr>
              <a:t>dynamic interference</a:t>
            </a:r>
            <a:endParaRPr lang="tr-TR" sz="1400" b="1">
              <a:solidFill>
                <a:srgbClr val="DC2626"/>
              </a:solidFill>
              <a:latin typeface="Aptos" pitchFamily="34" charset="0"/>
              <a:ea typeface="Aptos" pitchFamily="34" charset="-122"/>
              <a:cs typeface="Aptos" pitchFamily="34" charset="-120"/>
            </a:endParaRPr>
          </a:p>
          <a:p>
            <a:pPr marL="0" indent="0">
              <a:buNone/>
            </a:pPr>
            <a:endParaRPr lang="en-US" sz="1400" dirty="0"/>
          </a:p>
        </p:txBody>
      </p:sp>
      <p:sp>
        <p:nvSpPr>
          <p:cNvPr id="5" name="Text 3"/>
          <p:cNvSpPr/>
          <p:nvPr/>
        </p:nvSpPr>
        <p:spPr>
          <a:xfrm>
            <a:off x="658368" y="1444752"/>
            <a:ext cx="5303520" cy="1965960"/>
          </a:xfrm>
          <a:prstGeom prst="rect">
            <a:avLst/>
          </a:prstGeom>
          <a:noFill/>
          <a:ln/>
        </p:spPr>
        <p:txBody>
          <a:bodyPr wrap="square" lIns="508" tIns="508" rIns="508" bIns="508" rtlCol="0" anchor="ctr">
            <a:normAutofit fontScale="92500"/>
          </a:bodyPr>
          <a:lstStyle/>
          <a:p>
            <a:r>
              <a:rPr lang="en-US" sz="1520" dirty="0">
                <a:solidFill>
                  <a:srgbClr val="172033"/>
                </a:solidFill>
                <a:latin typeface="Aptos" pitchFamily="34" charset="0"/>
                <a:ea typeface="Aptos" pitchFamily="34" charset="-122"/>
                <a:cs typeface="Aptos" pitchFamily="34" charset="-120"/>
              </a:rPr>
              <a:t>A jammer can be much stronger than the desired QPSK SOI.
</a:t>
            </a:r>
            <a:endParaRPr lang="en-US" sz="1520" dirty="0"/>
          </a:p>
          <a:p>
            <a:r>
              <a:rPr lang="en-US" sz="1520" dirty="0">
                <a:solidFill>
                  <a:srgbClr val="172033"/>
                </a:solidFill>
                <a:latin typeface="Aptos" pitchFamily="34" charset="0"/>
                <a:ea typeface="Aptos" pitchFamily="34" charset="-122"/>
                <a:cs typeface="Aptos" pitchFamily="34" charset="-120"/>
              </a:rPr>
              <a:t>The received covariance matrix is then dominated by the jammer.
</a:t>
            </a:r>
            <a:endParaRPr lang="en-US" sz="1520" dirty="0"/>
          </a:p>
          <a:p>
            <a:r>
              <a:rPr lang="en-US" sz="1520" dirty="0">
                <a:solidFill>
                  <a:srgbClr val="172033"/>
                </a:solidFill>
                <a:latin typeface="Aptos" pitchFamily="34" charset="0"/>
                <a:ea typeface="Aptos" pitchFamily="34" charset="-122"/>
                <a:cs typeface="Aptos" pitchFamily="34" charset="-120"/>
              </a:rPr>
              <a:t>MUSIC returns the dominant source direction, not necessarily the SOI direction.
</a:t>
            </a:r>
            <a:endParaRPr lang="en-US" sz="1520" dirty="0"/>
          </a:p>
          <a:p>
            <a:r>
              <a:rPr lang="en-US" sz="1520" dirty="0">
                <a:solidFill>
                  <a:srgbClr val="172033"/>
                </a:solidFill>
                <a:latin typeface="Aptos" pitchFamily="34" charset="0"/>
                <a:ea typeface="Aptos" pitchFamily="34" charset="-122"/>
                <a:cs typeface="Aptos" pitchFamily="34" charset="-120"/>
              </a:rPr>
              <a:t>A wrong physical interpretation of the DoA causes wrong beamforming decisions.</a:t>
            </a:r>
            <a:endParaRPr lang="en-US" sz="1520" dirty="0"/>
          </a:p>
        </p:txBody>
      </p:sp>
      <p:sp>
        <p:nvSpPr>
          <p:cNvPr id="6" name="Text 4"/>
          <p:cNvSpPr/>
          <p:nvPr/>
        </p:nvSpPr>
        <p:spPr>
          <a:xfrm>
            <a:off x="658368" y="3781532"/>
            <a:ext cx="4572000" cy="237744"/>
          </a:xfrm>
          <a:prstGeom prst="rect">
            <a:avLst/>
          </a:prstGeom>
          <a:noFill/>
          <a:ln/>
        </p:spPr>
        <p:txBody>
          <a:bodyPr wrap="square" lIns="0" tIns="0" rIns="0" bIns="0" rtlCol="0" anchor="ctr">
            <a:normAutofit/>
          </a:bodyPr>
          <a:lstStyle/>
          <a:p>
            <a:pPr marL="0" indent="0">
              <a:buNone/>
            </a:pPr>
            <a:r>
              <a:rPr lang="en-US" sz="1400" b="1">
                <a:solidFill>
                  <a:srgbClr val="059669"/>
                </a:solidFill>
                <a:latin typeface="Aptos" pitchFamily="34" charset="0"/>
                <a:ea typeface="Aptos" pitchFamily="34" charset="-122"/>
                <a:cs typeface="Aptos" pitchFamily="34" charset="-120"/>
              </a:rPr>
              <a:t>Proposed solution</a:t>
            </a:r>
            <a:endParaRPr lang="tr-TR" sz="1400" b="1">
              <a:solidFill>
                <a:srgbClr val="059669"/>
              </a:solidFill>
              <a:latin typeface="Aptos" pitchFamily="34" charset="0"/>
              <a:ea typeface="Aptos" pitchFamily="34" charset="-122"/>
              <a:cs typeface="Aptos" pitchFamily="34" charset="-120"/>
            </a:endParaRPr>
          </a:p>
          <a:p>
            <a:pPr marL="0" indent="0">
              <a:buNone/>
            </a:pPr>
            <a:endParaRPr lang="en-US" sz="1400" dirty="0"/>
          </a:p>
        </p:txBody>
      </p:sp>
      <p:sp>
        <p:nvSpPr>
          <p:cNvPr id="7" name="Text 5"/>
          <p:cNvSpPr/>
          <p:nvPr/>
        </p:nvSpPr>
        <p:spPr>
          <a:xfrm>
            <a:off x="658368" y="4187952"/>
            <a:ext cx="5394960" cy="1325880"/>
          </a:xfrm>
          <a:prstGeom prst="rect">
            <a:avLst/>
          </a:prstGeom>
          <a:noFill/>
          <a:ln/>
        </p:spPr>
        <p:txBody>
          <a:bodyPr wrap="square" lIns="508" tIns="508" rIns="508" bIns="508" rtlCol="0" anchor="ctr">
            <a:normAutofit fontScale="92500" lnSpcReduction="20000"/>
          </a:bodyPr>
          <a:lstStyle/>
          <a:p>
            <a:r>
              <a:rPr lang="en-US" sz="1520" dirty="0">
                <a:solidFill>
                  <a:srgbClr val="172033"/>
                </a:solidFill>
                <a:latin typeface="Aptos" pitchFamily="34" charset="0"/>
                <a:ea typeface="Aptos" pitchFamily="34" charset="-122"/>
                <a:cs typeface="Aptos" pitchFamily="34" charset="-120"/>
              </a:rPr>
              <a:t>No jammer: dominant MUSIC peak is SOI → IMM tracks SOI → MVDR steering.
</a:t>
            </a:r>
            <a:endParaRPr lang="en-US" sz="1520" dirty="0"/>
          </a:p>
          <a:p>
            <a:r>
              <a:rPr lang="en-US" sz="1520" dirty="0">
                <a:solidFill>
                  <a:srgbClr val="172033"/>
                </a:solidFill>
                <a:latin typeface="Aptos" pitchFamily="34" charset="0"/>
                <a:ea typeface="Aptos" pitchFamily="34" charset="-122"/>
                <a:cs typeface="Aptos" pitchFamily="34" charset="-120"/>
              </a:rPr>
              <a:t>Jammer present: dominant MUSIC peak is jammer → IMM tracks jammer → LCMV nulling.
</a:t>
            </a:r>
            <a:endParaRPr lang="en-US" sz="1520" dirty="0"/>
          </a:p>
          <a:p>
            <a:r>
              <a:rPr lang="en-US" sz="1520" dirty="0">
                <a:solidFill>
                  <a:srgbClr val="172033"/>
                </a:solidFill>
                <a:latin typeface="Aptos" pitchFamily="34" charset="0"/>
                <a:ea typeface="Aptos" pitchFamily="34" charset="-122"/>
                <a:cs typeface="Aptos" pitchFamily="34" charset="-120"/>
              </a:rPr>
              <a:t>SOI is known at 0° broadside during jammer-present operation.</a:t>
            </a:r>
            <a:endParaRPr lang="en-US" sz="1520" dirty="0"/>
          </a:p>
        </p:txBody>
      </p:sp>
      <p:pic>
        <p:nvPicPr>
          <p:cNvPr id="8" name="Image 0" descr="/mnt/data/jammer_present_meas.png"/>
          <p:cNvPicPr>
            <a:picLocks noChangeAspect="1"/>
          </p:cNvPicPr>
          <p:nvPr/>
        </p:nvPicPr>
        <p:blipFill>
          <a:blip r:embed="rId3"/>
          <a:stretch>
            <a:fillRect/>
          </a:stretch>
        </p:blipFill>
        <p:spPr>
          <a:xfrm>
            <a:off x="6774799" y="1325880"/>
            <a:ext cx="4144042" cy="2926080"/>
          </a:xfrm>
          <a:prstGeom prst="rect">
            <a:avLst/>
          </a:prstGeom>
        </p:spPr>
      </p:pic>
      <p:sp>
        <p:nvSpPr>
          <p:cNvPr id="9" name="Text 6"/>
          <p:cNvSpPr/>
          <p:nvPr/>
        </p:nvSpPr>
        <p:spPr>
          <a:xfrm>
            <a:off x="6537960" y="4617720"/>
            <a:ext cx="4709160" cy="502920"/>
          </a:xfrm>
          <a:prstGeom prst="rect">
            <a:avLst/>
          </a:prstGeom>
          <a:noFill/>
          <a:ln/>
        </p:spPr>
        <p:txBody>
          <a:bodyPr wrap="square" lIns="0" tIns="0" rIns="0" bIns="0" rtlCol="0" anchor="ctr">
            <a:normAutofit/>
          </a:bodyPr>
          <a:lstStyle/>
          <a:p>
            <a:pPr marL="0" indent="0">
              <a:buNone/>
            </a:pPr>
            <a:r>
              <a:rPr lang="en-US" sz="1500" b="1" dirty="0">
                <a:solidFill>
                  <a:srgbClr val="172033"/>
                </a:solidFill>
                <a:latin typeface="Aptos" pitchFamily="34" charset="0"/>
                <a:ea typeface="Aptos" pitchFamily="34" charset="-122"/>
                <a:cs typeface="Aptos" pitchFamily="34" charset="-120"/>
              </a:rPr>
              <a:t>Measured jammer-present snapshot: LCMV mode, IMM target = JAMMER, suppression ≈ 17.36 dB.</a:t>
            </a:r>
            <a:endParaRPr lang="en-US" sz="1500" dirty="0"/>
          </a:p>
        </p:txBody>
      </p:sp>
      <p:sp>
        <p:nvSpPr>
          <p:cNvPr id="10" name="Text 7"/>
          <p:cNvSpPr/>
          <p:nvPr/>
        </p:nvSpPr>
        <p:spPr>
          <a:xfrm>
            <a:off x="472440" y="6537960"/>
            <a:ext cx="11247120" cy="164592"/>
          </a:xfrm>
          <a:prstGeom prst="rect">
            <a:avLst/>
          </a:prstGeom>
          <a:noFill/>
          <a:ln/>
        </p:spPr>
        <p:txBody>
          <a:bodyPr wrap="square" lIns="0" tIns="0" rIns="0" bIns="0" rtlCol="0" anchor="ctr">
            <a:normAutofit/>
          </a:bodyPr>
          <a:lstStyle/>
          <a:p>
            <a:pPr marL="0" indent="0" algn="r">
              <a:buNone/>
            </a:pPr>
            <a:r>
              <a:rPr lang="en-US" sz="750" dirty="0">
                <a:solidFill>
                  <a:srgbClr val="94A3B8"/>
                </a:solidFill>
                <a:latin typeface="Aptos" pitchFamily="34" charset="0"/>
                <a:ea typeface="Aptos" pitchFamily="34" charset="-122"/>
                <a:cs typeface="Aptos" pitchFamily="34" charset="-120"/>
              </a:rPr>
              <a:t>EE4084 Kalman and Bayesian Filters • Project Presentation • 3/15</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37744"/>
            <a:ext cx="11247120" cy="420624"/>
          </a:xfrm>
          <a:prstGeom prst="rect">
            <a:avLst/>
          </a:prstGeom>
          <a:noFill/>
          <a:ln/>
        </p:spPr>
        <p:txBody>
          <a:bodyPr wrap="square" lIns="0" tIns="0" rIns="0" bIns="0" rtlCol="0" anchor="ctr">
            <a:normAutofit/>
          </a:bodyPr>
          <a:lstStyle/>
          <a:p>
            <a:pPr marL="0" indent="0">
              <a:buNone/>
            </a:pPr>
            <a:r>
              <a:rPr lang="en-US" sz="2200" b="1" dirty="0">
                <a:solidFill>
                  <a:srgbClr val="172033"/>
                </a:solidFill>
                <a:latin typeface="Aptos Display" pitchFamily="34" charset="0"/>
                <a:ea typeface="Aptos Display" pitchFamily="34" charset="-122"/>
                <a:cs typeface="Aptos Display" pitchFamily="34" charset="-120"/>
              </a:rPr>
              <a:t>System overview: MUSIC → IMM Kalman → MVDR/LCMV switching</a:t>
            </a:r>
            <a:endParaRPr lang="en-US" sz="2200" dirty="0"/>
          </a:p>
        </p:txBody>
      </p:sp>
      <p:sp>
        <p:nvSpPr>
          <p:cNvPr id="3" name="Text 1"/>
          <p:cNvSpPr/>
          <p:nvPr/>
        </p:nvSpPr>
        <p:spPr>
          <a:xfrm>
            <a:off x="457200" y="704088"/>
            <a:ext cx="11247120" cy="237744"/>
          </a:xfrm>
          <a:prstGeom prst="rect">
            <a:avLst/>
          </a:prstGeom>
          <a:noFill/>
          <a:ln/>
        </p:spPr>
        <p:txBody>
          <a:bodyPr wrap="square" lIns="0" tIns="0" rIns="0" bIns="0" rtlCol="0" anchor="ctr">
            <a:normAutofit/>
          </a:bodyPr>
          <a:lstStyle/>
          <a:p>
            <a:pPr marL="0" indent="0">
              <a:buNone/>
            </a:pPr>
            <a:r>
              <a:rPr lang="en-US" sz="1150" dirty="0">
                <a:solidFill>
                  <a:srgbClr val="5D667A"/>
                </a:solidFill>
                <a:latin typeface="Aptos" pitchFamily="34" charset="0"/>
                <a:ea typeface="Aptos" pitchFamily="34" charset="-122"/>
                <a:cs typeface="Aptos" pitchFamily="34" charset="-120"/>
              </a:rPr>
              <a:t>The same estimation chain is used in both modes, but the beamformer and interpretation change.</a:t>
            </a:r>
            <a:endParaRPr lang="en-US" sz="1150" dirty="0"/>
          </a:p>
        </p:txBody>
      </p:sp>
      <p:pic>
        <p:nvPicPr>
          <p:cNvPr id="4" name="Image 0" descr="/mnt/data/Kalman_Project_Scheme.png"/>
          <p:cNvPicPr>
            <a:picLocks noChangeAspect="1"/>
          </p:cNvPicPr>
          <p:nvPr/>
        </p:nvPicPr>
        <p:blipFill>
          <a:blip r:embed="rId3"/>
          <a:stretch>
            <a:fillRect/>
          </a:stretch>
        </p:blipFill>
        <p:spPr>
          <a:xfrm>
            <a:off x="2757035" y="1005840"/>
            <a:ext cx="6647450" cy="4434840"/>
          </a:xfrm>
          <a:prstGeom prst="rect">
            <a:avLst/>
          </a:prstGeom>
        </p:spPr>
      </p:pic>
      <p:sp>
        <p:nvSpPr>
          <p:cNvPr id="5" name="Text 2"/>
          <p:cNvSpPr/>
          <p:nvPr/>
        </p:nvSpPr>
        <p:spPr>
          <a:xfrm>
            <a:off x="658368" y="5650992"/>
            <a:ext cx="10789920" cy="457200"/>
          </a:xfrm>
          <a:prstGeom prst="rect">
            <a:avLst/>
          </a:prstGeom>
          <a:noFill/>
          <a:ln/>
        </p:spPr>
        <p:txBody>
          <a:bodyPr wrap="square" lIns="0" tIns="0" rIns="0" bIns="0" rtlCol="0" anchor="ctr">
            <a:normAutofit lnSpcReduction="10000"/>
          </a:bodyPr>
          <a:lstStyle/>
          <a:p>
            <a:pPr marL="0" indent="0">
              <a:buNone/>
            </a:pPr>
            <a:r>
              <a:rPr lang="en-US" sz="1550" b="1" dirty="0">
                <a:solidFill>
                  <a:srgbClr val="172033"/>
                </a:solidFill>
                <a:latin typeface="Aptos" pitchFamily="34" charset="0"/>
                <a:ea typeface="Aptos" pitchFamily="34" charset="-122"/>
                <a:cs typeface="Aptos" pitchFamily="34" charset="-120"/>
              </a:rPr>
              <a:t>Key design principle</a:t>
            </a:r>
            <a:r>
              <a:rPr lang="en-US" sz="1550" b="1">
                <a:solidFill>
                  <a:srgbClr val="172033"/>
                </a:solidFill>
                <a:latin typeface="Aptos" pitchFamily="34" charset="0"/>
                <a:ea typeface="Aptos" pitchFamily="34" charset="-122"/>
                <a:cs typeface="Aptos" pitchFamily="34" charset="-120"/>
              </a:rPr>
              <a:t>: </a:t>
            </a:r>
            <a:r>
              <a:rPr lang="tr-TR" sz="1550" b="1">
                <a:solidFill>
                  <a:srgbClr val="172033"/>
                </a:solidFill>
                <a:latin typeface="Aptos" pitchFamily="34" charset="0"/>
                <a:ea typeface="Aptos" pitchFamily="34" charset="-122"/>
                <a:cs typeface="Aptos" pitchFamily="34" charset="-120"/>
              </a:rPr>
              <a:t>D</a:t>
            </a:r>
            <a:r>
              <a:rPr lang="en-US" sz="1550" b="1">
                <a:solidFill>
                  <a:srgbClr val="172033"/>
                </a:solidFill>
                <a:latin typeface="Aptos" pitchFamily="34" charset="0"/>
                <a:ea typeface="Aptos" pitchFamily="34" charset="-122"/>
                <a:cs typeface="Aptos" pitchFamily="34" charset="-120"/>
              </a:rPr>
              <a:t>o </a:t>
            </a:r>
            <a:r>
              <a:rPr lang="en-US" sz="1550" b="1" dirty="0">
                <a:solidFill>
                  <a:srgbClr val="172033"/>
                </a:solidFill>
                <a:latin typeface="Aptos" pitchFamily="34" charset="0"/>
                <a:ea typeface="Aptos" pitchFamily="34" charset="-122"/>
                <a:cs typeface="Aptos" pitchFamily="34" charset="-120"/>
              </a:rPr>
              <a:t>not force a two-channel MUSIC estimator to separate SOI and jammer simultaneously; instead, use controlled mode information and known SOI broadside reference.</a:t>
            </a:r>
            <a:endParaRPr lang="en-US" sz="1550" dirty="0"/>
          </a:p>
        </p:txBody>
      </p:sp>
      <p:sp>
        <p:nvSpPr>
          <p:cNvPr id="6" name="Text 3"/>
          <p:cNvSpPr/>
          <p:nvPr/>
        </p:nvSpPr>
        <p:spPr>
          <a:xfrm>
            <a:off x="457200" y="6510528"/>
            <a:ext cx="11247120" cy="164592"/>
          </a:xfrm>
          <a:prstGeom prst="rect">
            <a:avLst/>
          </a:prstGeom>
          <a:noFill/>
          <a:ln/>
        </p:spPr>
        <p:txBody>
          <a:bodyPr wrap="square" lIns="0" tIns="0" rIns="0" bIns="0" rtlCol="0" anchor="ctr">
            <a:normAutofit/>
          </a:bodyPr>
          <a:lstStyle/>
          <a:p>
            <a:pPr marL="0" indent="0" algn="r">
              <a:buNone/>
            </a:pPr>
            <a:r>
              <a:rPr lang="en-US" sz="750" dirty="0">
                <a:solidFill>
                  <a:srgbClr val="94A3B8"/>
                </a:solidFill>
                <a:latin typeface="Aptos" pitchFamily="34" charset="0"/>
                <a:ea typeface="Aptos" pitchFamily="34" charset="-122"/>
                <a:cs typeface="Aptos" pitchFamily="34" charset="-120"/>
              </a:rPr>
              <a:t>EE4084 Kalman and Bayesian Filters • Project Presentation • 4/15</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37744"/>
            <a:ext cx="11247120" cy="420624"/>
          </a:xfrm>
          <a:prstGeom prst="rect">
            <a:avLst/>
          </a:prstGeom>
          <a:noFill/>
          <a:ln/>
        </p:spPr>
        <p:txBody>
          <a:bodyPr wrap="square" lIns="0" tIns="0" rIns="0" bIns="0" rtlCol="0" anchor="ctr">
            <a:normAutofit/>
          </a:bodyPr>
          <a:lstStyle/>
          <a:p>
            <a:pPr marL="0" indent="0">
              <a:buNone/>
            </a:pPr>
            <a:r>
              <a:rPr lang="en-US" sz="2200" b="1" dirty="0">
                <a:solidFill>
                  <a:srgbClr val="172033"/>
                </a:solidFill>
                <a:latin typeface="Aptos Display" pitchFamily="34" charset="0"/>
                <a:ea typeface="Aptos Display" pitchFamily="34" charset="-122"/>
                <a:cs typeface="Aptos Display" pitchFamily="34" charset="-120"/>
              </a:rPr>
              <a:t>Experimental setup and signal configuration</a:t>
            </a:r>
            <a:endParaRPr lang="en-US" sz="2200" dirty="0"/>
          </a:p>
        </p:txBody>
      </p:sp>
      <p:sp>
        <p:nvSpPr>
          <p:cNvPr id="3" name="Text 1"/>
          <p:cNvSpPr/>
          <p:nvPr/>
        </p:nvSpPr>
        <p:spPr>
          <a:xfrm>
            <a:off x="457200" y="704088"/>
            <a:ext cx="11247120" cy="237744"/>
          </a:xfrm>
          <a:prstGeom prst="rect">
            <a:avLst/>
          </a:prstGeom>
          <a:noFill/>
          <a:ln/>
        </p:spPr>
        <p:txBody>
          <a:bodyPr wrap="square" lIns="0" tIns="0" rIns="0" bIns="0" rtlCol="0" anchor="ctr">
            <a:normAutofit/>
          </a:bodyPr>
          <a:lstStyle/>
          <a:p>
            <a:pPr marL="0" indent="0">
              <a:buNone/>
            </a:pPr>
            <a:r>
              <a:rPr lang="en-US" sz="1150" dirty="0">
                <a:solidFill>
                  <a:srgbClr val="5D667A"/>
                </a:solidFill>
                <a:latin typeface="Aptos" pitchFamily="34" charset="0"/>
                <a:ea typeface="Aptos" pitchFamily="34" charset="-122"/>
                <a:cs typeface="Aptos" pitchFamily="34" charset="-120"/>
              </a:rPr>
              <a:t>PlutoSDR transmits both the desired QPSK signal and the jammer signal, then receives with two channels.</a:t>
            </a:r>
            <a:endParaRPr lang="en-US" sz="1150" dirty="0"/>
          </a:p>
        </p:txBody>
      </p:sp>
      <p:sp>
        <p:nvSpPr>
          <p:cNvPr id="4" name="Text 2"/>
          <p:cNvSpPr/>
          <p:nvPr/>
        </p:nvSpPr>
        <p:spPr>
          <a:xfrm>
            <a:off x="658368" y="1108999"/>
            <a:ext cx="5029200" cy="237744"/>
          </a:xfrm>
          <a:prstGeom prst="rect">
            <a:avLst/>
          </a:prstGeom>
          <a:noFill/>
          <a:ln/>
        </p:spPr>
        <p:txBody>
          <a:bodyPr wrap="square" lIns="0" tIns="0" rIns="0" bIns="0" rtlCol="0" anchor="ctr">
            <a:normAutofit/>
          </a:bodyPr>
          <a:lstStyle/>
          <a:p>
            <a:pPr marL="0" indent="0">
              <a:buNone/>
            </a:pPr>
            <a:r>
              <a:rPr lang="en-US" sz="1400" b="1" dirty="0">
                <a:solidFill>
                  <a:srgbClr val="2563EB"/>
                </a:solidFill>
                <a:latin typeface="Aptos" pitchFamily="34" charset="0"/>
                <a:ea typeface="Aptos" pitchFamily="34" charset="-122"/>
                <a:cs typeface="Aptos" pitchFamily="34" charset="-120"/>
              </a:rPr>
              <a:t>Hardware and </a:t>
            </a:r>
            <a:r>
              <a:rPr lang="en-US" sz="1400" b="1">
                <a:solidFill>
                  <a:srgbClr val="2563EB"/>
                </a:solidFill>
                <a:latin typeface="Aptos" pitchFamily="34" charset="0"/>
                <a:ea typeface="Aptos" pitchFamily="34" charset="-122"/>
                <a:cs typeface="Aptos" pitchFamily="34" charset="-120"/>
              </a:rPr>
              <a:t>RF settings</a:t>
            </a:r>
            <a:endParaRPr lang="tr-TR" sz="1400" b="1">
              <a:solidFill>
                <a:srgbClr val="2563EB"/>
              </a:solidFill>
              <a:latin typeface="Aptos" pitchFamily="34" charset="0"/>
              <a:ea typeface="Aptos" pitchFamily="34" charset="-122"/>
              <a:cs typeface="Aptos" pitchFamily="34" charset="-120"/>
            </a:endParaRPr>
          </a:p>
          <a:p>
            <a:pPr marL="0" indent="0">
              <a:buNone/>
            </a:pPr>
            <a:endParaRPr lang="en-US" sz="1400" dirty="0"/>
          </a:p>
        </p:txBody>
      </p:sp>
      <p:sp>
        <p:nvSpPr>
          <p:cNvPr id="5" name="Text 3"/>
          <p:cNvSpPr/>
          <p:nvPr/>
        </p:nvSpPr>
        <p:spPr>
          <a:xfrm>
            <a:off x="658368" y="1389888"/>
            <a:ext cx="5257800" cy="1600200"/>
          </a:xfrm>
          <a:prstGeom prst="rect">
            <a:avLst/>
          </a:prstGeom>
          <a:noFill/>
          <a:ln/>
        </p:spPr>
        <p:txBody>
          <a:bodyPr wrap="square" lIns="508" tIns="508" rIns="508" bIns="508" rtlCol="0" anchor="ctr">
            <a:normAutofit fontScale="92500" lnSpcReduction="20000"/>
          </a:bodyPr>
          <a:lstStyle/>
          <a:p>
            <a:r>
              <a:rPr lang="en-US" sz="1520" dirty="0">
                <a:solidFill>
                  <a:srgbClr val="172033"/>
                </a:solidFill>
                <a:latin typeface="Aptos" pitchFamily="34" charset="0"/>
                <a:ea typeface="Aptos" pitchFamily="34" charset="-122"/>
                <a:cs typeface="Aptos" pitchFamily="34" charset="-120"/>
              </a:rPr>
              <a:t>Platform: ADALM-Pluto SDR / AD936x.
</a:t>
            </a:r>
            <a:endParaRPr lang="en-US" sz="1520" dirty="0"/>
          </a:p>
          <a:p>
            <a:r>
              <a:rPr lang="en-US" sz="1520" dirty="0">
                <a:solidFill>
                  <a:srgbClr val="172033"/>
                </a:solidFill>
                <a:latin typeface="Aptos" pitchFamily="34" charset="0"/>
                <a:ea typeface="Aptos" pitchFamily="34" charset="-122"/>
                <a:cs typeface="Aptos" pitchFamily="34" charset="-120"/>
              </a:rPr>
              <a:t>Receiver: two enabled RX channels.
</a:t>
            </a:r>
            <a:endParaRPr lang="en-US" sz="1520" dirty="0"/>
          </a:p>
          <a:p>
            <a:r>
              <a:rPr lang="en-US" sz="1520" dirty="0">
                <a:solidFill>
                  <a:srgbClr val="172033"/>
                </a:solidFill>
                <a:latin typeface="Aptos" pitchFamily="34" charset="0"/>
                <a:ea typeface="Aptos" pitchFamily="34" charset="-122"/>
                <a:cs typeface="Aptos" pitchFamily="34" charset="-120"/>
              </a:rPr>
              <a:t>Center frequency: 2.1 GHz.
</a:t>
            </a:r>
            <a:endParaRPr lang="en-US" sz="1520" dirty="0"/>
          </a:p>
          <a:p>
            <a:r>
              <a:rPr lang="en-US" sz="1520" dirty="0">
                <a:solidFill>
                  <a:srgbClr val="172033"/>
                </a:solidFill>
                <a:latin typeface="Aptos" pitchFamily="34" charset="0"/>
                <a:ea typeface="Aptos" pitchFamily="34" charset="-122"/>
                <a:cs typeface="Aptos" pitchFamily="34" charset="-120"/>
              </a:rPr>
              <a:t>Sampling rate: 5 MS/s.
</a:t>
            </a:r>
            <a:endParaRPr lang="en-US" sz="1520" dirty="0"/>
          </a:p>
          <a:p>
            <a:r>
              <a:rPr lang="en-US" sz="1520" dirty="0">
                <a:solidFill>
                  <a:srgbClr val="172033"/>
                </a:solidFill>
                <a:latin typeface="Aptos" pitchFamily="34" charset="0"/>
                <a:ea typeface="Aptos" pitchFamily="34" charset="-122"/>
                <a:cs typeface="Aptos" pitchFamily="34" charset="-120"/>
              </a:rPr>
              <a:t>ULA spacing: d = λ/2.</a:t>
            </a:r>
            <a:endParaRPr lang="en-US" sz="1520" dirty="0"/>
          </a:p>
        </p:txBody>
      </p:sp>
      <p:sp>
        <p:nvSpPr>
          <p:cNvPr id="6" name="Text 4"/>
          <p:cNvSpPr/>
          <p:nvPr/>
        </p:nvSpPr>
        <p:spPr>
          <a:xfrm>
            <a:off x="658368" y="3547872"/>
            <a:ext cx="5029200" cy="237744"/>
          </a:xfrm>
          <a:prstGeom prst="rect">
            <a:avLst/>
          </a:prstGeom>
          <a:noFill/>
          <a:ln/>
        </p:spPr>
        <p:txBody>
          <a:bodyPr wrap="square" lIns="0" tIns="0" rIns="0" bIns="0" rtlCol="0" anchor="ctr">
            <a:normAutofit/>
          </a:bodyPr>
          <a:lstStyle/>
          <a:p>
            <a:pPr marL="0" indent="0">
              <a:buNone/>
            </a:pPr>
            <a:r>
              <a:rPr lang="en-US" sz="1400" b="1" dirty="0">
                <a:solidFill>
                  <a:srgbClr val="059669"/>
                </a:solidFill>
                <a:latin typeface="Aptos" pitchFamily="34" charset="0"/>
                <a:ea typeface="Aptos" pitchFamily="34" charset="-122"/>
                <a:cs typeface="Aptos" pitchFamily="34" charset="-120"/>
              </a:rPr>
              <a:t>Transmitted signals</a:t>
            </a:r>
            <a:endParaRPr lang="en-US" sz="1400" dirty="0"/>
          </a:p>
        </p:txBody>
      </p:sp>
      <p:sp>
        <p:nvSpPr>
          <p:cNvPr id="7" name="Text 5"/>
          <p:cNvSpPr/>
          <p:nvPr/>
        </p:nvSpPr>
        <p:spPr>
          <a:xfrm>
            <a:off x="658368" y="3913632"/>
            <a:ext cx="5257800" cy="1325880"/>
          </a:xfrm>
          <a:prstGeom prst="rect">
            <a:avLst/>
          </a:prstGeom>
          <a:noFill/>
          <a:ln/>
        </p:spPr>
        <p:txBody>
          <a:bodyPr wrap="square" lIns="508" tIns="508" rIns="508" bIns="508" rtlCol="0" anchor="ctr">
            <a:normAutofit fontScale="92500" lnSpcReduction="20000"/>
          </a:bodyPr>
          <a:lstStyle/>
          <a:p>
            <a:r>
              <a:rPr lang="en-US" sz="1520" dirty="0">
                <a:solidFill>
                  <a:srgbClr val="172033"/>
                </a:solidFill>
                <a:latin typeface="Aptos" pitchFamily="34" charset="0"/>
                <a:ea typeface="Aptos" pitchFamily="34" charset="-122"/>
                <a:cs typeface="Aptos" pitchFamily="34" charset="-120"/>
              </a:rPr>
              <a:t>Tx0: QPSK SOI, gain = −20 dB.
</a:t>
            </a:r>
            <a:endParaRPr lang="en-US" sz="1520" dirty="0"/>
          </a:p>
          <a:p>
            <a:r>
              <a:rPr lang="en-US" sz="1520" dirty="0">
                <a:solidFill>
                  <a:srgbClr val="172033"/>
                </a:solidFill>
                <a:latin typeface="Aptos" pitchFamily="34" charset="0"/>
                <a:ea typeface="Aptos" pitchFamily="34" charset="-122"/>
                <a:cs typeface="Aptos" pitchFamily="34" charset="-120"/>
              </a:rPr>
              <a:t>Tx1: CW jammer, gain = −3 dB.
</a:t>
            </a:r>
            <a:endParaRPr lang="en-US" sz="1520" dirty="0"/>
          </a:p>
          <a:p>
            <a:r>
              <a:rPr lang="en-US" sz="1520" dirty="0">
                <a:solidFill>
                  <a:srgbClr val="172033"/>
                </a:solidFill>
                <a:latin typeface="Aptos" pitchFamily="34" charset="0"/>
                <a:ea typeface="Aptos" pitchFamily="34" charset="-122"/>
                <a:cs typeface="Aptos" pitchFamily="34" charset="-120"/>
              </a:rPr>
              <a:t>Jammer is 17 dB stronger at transmitter side.
</a:t>
            </a:r>
            <a:endParaRPr lang="en-US" sz="1520" dirty="0"/>
          </a:p>
          <a:p>
            <a:r>
              <a:rPr lang="en-US" sz="1520" dirty="0">
                <a:solidFill>
                  <a:srgbClr val="172033"/>
                </a:solidFill>
                <a:latin typeface="Aptos" pitchFamily="34" charset="0"/>
                <a:ea typeface="Aptos" pitchFamily="34" charset="-122"/>
                <a:cs typeface="Aptos" pitchFamily="34" charset="-120"/>
              </a:rPr>
              <a:t>SOI reference in jammer mode: 0° broadside.</a:t>
            </a:r>
            <a:endParaRPr lang="en-US" sz="1520" dirty="0"/>
          </a:p>
        </p:txBody>
      </p:sp>
      <p:pic>
        <p:nvPicPr>
          <p:cNvPr id="8" name="Image 0" descr="/mnt/data/i_ki_elemanlı_ula_diyagramı.png"/>
          <p:cNvPicPr>
            <a:picLocks noChangeAspect="1"/>
          </p:cNvPicPr>
          <p:nvPr/>
        </p:nvPicPr>
        <p:blipFill>
          <a:blip r:embed="rId3"/>
          <a:stretch>
            <a:fillRect/>
          </a:stretch>
        </p:blipFill>
        <p:spPr>
          <a:xfrm>
            <a:off x="6172200" y="1143000"/>
            <a:ext cx="5303520" cy="3977640"/>
          </a:xfrm>
          <a:prstGeom prst="rect">
            <a:avLst/>
          </a:prstGeom>
        </p:spPr>
      </p:pic>
      <p:sp>
        <p:nvSpPr>
          <p:cNvPr id="9" name="Text 6"/>
          <p:cNvSpPr/>
          <p:nvPr/>
        </p:nvSpPr>
        <p:spPr>
          <a:xfrm>
            <a:off x="457200" y="6510528"/>
            <a:ext cx="11247120" cy="164592"/>
          </a:xfrm>
          <a:prstGeom prst="rect">
            <a:avLst/>
          </a:prstGeom>
          <a:noFill/>
          <a:ln/>
        </p:spPr>
        <p:txBody>
          <a:bodyPr wrap="square" lIns="0" tIns="0" rIns="0" bIns="0" rtlCol="0" anchor="ctr">
            <a:normAutofit/>
          </a:bodyPr>
          <a:lstStyle/>
          <a:p>
            <a:pPr marL="0" indent="0" algn="r">
              <a:buNone/>
            </a:pPr>
            <a:r>
              <a:rPr lang="en-US" sz="750" dirty="0">
                <a:solidFill>
                  <a:srgbClr val="94A3B8"/>
                </a:solidFill>
                <a:latin typeface="Aptos" pitchFamily="34" charset="0"/>
                <a:ea typeface="Aptos" pitchFamily="34" charset="-122"/>
                <a:cs typeface="Aptos" pitchFamily="34" charset="-120"/>
              </a:rPr>
              <a:t>EE4084 Kalman and Bayesian Filters • Project Presentation • 5/15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37744"/>
            <a:ext cx="11247120" cy="420624"/>
          </a:xfrm>
          <a:prstGeom prst="rect">
            <a:avLst/>
          </a:prstGeom>
          <a:noFill/>
          <a:ln/>
        </p:spPr>
        <p:txBody>
          <a:bodyPr wrap="square" lIns="0" tIns="0" rIns="0" bIns="0" rtlCol="0" anchor="ctr">
            <a:normAutofit/>
          </a:bodyPr>
          <a:lstStyle/>
          <a:p>
            <a:pPr marL="0" indent="0">
              <a:buNone/>
            </a:pPr>
            <a:r>
              <a:rPr lang="en-US" sz="2200" b="1" dirty="0">
                <a:solidFill>
                  <a:srgbClr val="172033"/>
                </a:solidFill>
                <a:latin typeface="Aptos Display" pitchFamily="34" charset="0"/>
                <a:ea typeface="Aptos Display" pitchFamily="34" charset="-122"/>
                <a:cs typeface="Aptos Display" pitchFamily="34" charset="-120"/>
              </a:rPr>
              <a:t>Process model: Kalman angular state transition</a:t>
            </a:r>
            <a:endParaRPr lang="en-US" sz="2200" dirty="0"/>
          </a:p>
        </p:txBody>
      </p:sp>
      <p:sp>
        <p:nvSpPr>
          <p:cNvPr id="3" name="Text 1"/>
          <p:cNvSpPr/>
          <p:nvPr/>
        </p:nvSpPr>
        <p:spPr>
          <a:xfrm>
            <a:off x="457200" y="704088"/>
            <a:ext cx="11247120" cy="237744"/>
          </a:xfrm>
          <a:prstGeom prst="rect">
            <a:avLst/>
          </a:prstGeom>
          <a:noFill/>
          <a:ln/>
        </p:spPr>
        <p:txBody>
          <a:bodyPr wrap="square" lIns="0" tIns="0" rIns="0" bIns="0" rtlCol="0" anchor="ctr">
            <a:normAutofit/>
          </a:bodyPr>
          <a:lstStyle/>
          <a:p>
            <a:pPr marL="0" indent="0">
              <a:buNone/>
            </a:pPr>
            <a:r>
              <a:rPr lang="en-US" sz="1150" dirty="0">
                <a:solidFill>
                  <a:srgbClr val="5D667A"/>
                </a:solidFill>
                <a:latin typeface="Aptos" pitchFamily="34" charset="0"/>
                <a:ea typeface="Aptos" pitchFamily="34" charset="-122"/>
                <a:cs typeface="Aptos" pitchFamily="34" charset="-120"/>
              </a:rPr>
              <a:t>The process model predicts the angular state used by the IMM Kalman filter.</a:t>
            </a:r>
            <a:endParaRPr lang="en-US" sz="1150" dirty="0"/>
          </a:p>
        </p:txBody>
      </p:sp>
      <p:sp>
        <p:nvSpPr>
          <p:cNvPr id="4" name="Text 2"/>
          <p:cNvSpPr/>
          <p:nvPr/>
        </p:nvSpPr>
        <p:spPr>
          <a:xfrm>
            <a:off x="685800" y="1097280"/>
            <a:ext cx="4572000" cy="237744"/>
          </a:xfrm>
          <a:prstGeom prst="rect">
            <a:avLst/>
          </a:prstGeom>
          <a:noFill/>
          <a:ln/>
        </p:spPr>
        <p:txBody>
          <a:bodyPr wrap="square" lIns="0" tIns="0" rIns="0" bIns="0" rtlCol="0" anchor="ctr">
            <a:normAutofit/>
          </a:bodyPr>
          <a:lstStyle/>
          <a:p>
            <a:pPr marL="0" indent="0">
              <a:buNone/>
            </a:pPr>
            <a:r>
              <a:rPr lang="en-US" sz="1020" b="1" dirty="0">
                <a:solidFill>
                  <a:srgbClr val="2563EB"/>
                </a:solidFill>
                <a:latin typeface="Aptos" pitchFamily="34" charset="0"/>
                <a:ea typeface="Aptos" pitchFamily="34" charset="-122"/>
                <a:cs typeface="Aptos" pitchFamily="34" charset="-120"/>
              </a:rPr>
              <a:t>State vector</a:t>
            </a:r>
            <a:endParaRPr lang="en-US" sz="1020" dirty="0"/>
          </a:p>
        </p:txBody>
      </p:sp>
      <p:sp>
        <p:nvSpPr>
          <p:cNvPr id="5" name="Text 3"/>
          <p:cNvSpPr/>
          <p:nvPr/>
        </p:nvSpPr>
        <p:spPr>
          <a:xfrm>
            <a:off x="685800" y="1481328"/>
            <a:ext cx="4572000" cy="457200"/>
          </a:xfrm>
          <a:prstGeom prst="rect">
            <a:avLst/>
          </a:prstGeom>
          <a:noFill/>
          <a:ln/>
        </p:spPr>
        <p:txBody>
          <a:bodyPr wrap="square" lIns="508" tIns="508" rIns="508" bIns="508" rtlCol="0" anchor="ctr">
            <a:normAutofit/>
          </a:bodyPr>
          <a:lstStyle/>
          <a:p>
            <a:pPr marL="0" indent="0">
              <a:buNone/>
            </a:pPr>
            <a:r>
              <a:rPr lang="en-US" sz="2100" dirty="0">
                <a:solidFill>
                  <a:srgbClr val="172033"/>
                </a:solidFill>
                <a:latin typeface="Cambria Math" pitchFamily="34" charset="0"/>
                <a:ea typeface="Cambria Math" pitchFamily="34" charset="-122"/>
                <a:cs typeface="Cambria Math" pitchFamily="34" charset="-120"/>
              </a:rPr>
              <a:t>xₖ = [ θₖ,  θ̇ₖ,  θ̈ₖ ]ᵀ</a:t>
            </a:r>
            <a:endParaRPr lang="en-US" sz="2100" dirty="0"/>
          </a:p>
        </p:txBody>
      </p:sp>
      <p:sp>
        <p:nvSpPr>
          <p:cNvPr id="6" name="Text 4"/>
          <p:cNvSpPr/>
          <p:nvPr/>
        </p:nvSpPr>
        <p:spPr>
          <a:xfrm>
            <a:off x="731520" y="2130552"/>
            <a:ext cx="5166360" cy="1389888"/>
          </a:xfrm>
          <a:prstGeom prst="rect">
            <a:avLst/>
          </a:prstGeom>
          <a:noFill/>
          <a:ln/>
        </p:spPr>
        <p:txBody>
          <a:bodyPr wrap="square" lIns="508" tIns="508" rIns="508" bIns="508" rtlCol="0" anchor="ctr">
            <a:normAutofit/>
          </a:bodyPr>
          <a:lstStyle/>
          <a:p>
            <a:r>
              <a:rPr lang="en-US" sz="1550" dirty="0">
                <a:solidFill>
                  <a:srgbClr val="172033"/>
                </a:solidFill>
                <a:latin typeface="Aptos" pitchFamily="34" charset="0"/>
                <a:ea typeface="Aptos" pitchFamily="34" charset="-122"/>
                <a:cs typeface="Aptos" pitchFamily="34" charset="-120"/>
              </a:rPr>
              <a:t>θₖ: direction of arrival angle.
</a:t>
            </a:r>
            <a:endParaRPr lang="en-US" sz="1550" dirty="0"/>
          </a:p>
          <a:p>
            <a:r>
              <a:rPr lang="en-US" sz="1550" dirty="0">
                <a:solidFill>
                  <a:srgbClr val="172033"/>
                </a:solidFill>
                <a:latin typeface="Aptos" pitchFamily="34" charset="0"/>
                <a:ea typeface="Aptos" pitchFamily="34" charset="-122"/>
                <a:cs typeface="Aptos" pitchFamily="34" charset="-120"/>
              </a:rPr>
              <a:t>θ̇ₖ: angular velocity.
</a:t>
            </a:r>
            <a:endParaRPr lang="en-US" sz="1550" dirty="0"/>
          </a:p>
          <a:p>
            <a:r>
              <a:rPr lang="en-US" sz="1550" dirty="0">
                <a:solidFill>
                  <a:srgbClr val="172033"/>
                </a:solidFill>
                <a:latin typeface="Aptos" pitchFamily="34" charset="0"/>
                <a:ea typeface="Aptos" pitchFamily="34" charset="-122"/>
                <a:cs typeface="Aptos" pitchFamily="34" charset="-120"/>
              </a:rPr>
              <a:t>θ̈ₖ: angular acceleration.
</a:t>
            </a:r>
            <a:endParaRPr lang="en-US" sz="1550" dirty="0"/>
          </a:p>
          <a:p>
            <a:r>
              <a:rPr lang="en-US" sz="1550" dirty="0">
                <a:solidFill>
                  <a:srgbClr val="172033"/>
                </a:solidFill>
                <a:latin typeface="Aptos" pitchFamily="34" charset="0"/>
                <a:ea typeface="Aptos" pitchFamily="34" charset="-122"/>
                <a:cs typeface="Aptos" pitchFamily="34" charset="-120"/>
              </a:rPr>
              <a:t>All states are in angular units, not Cartesian position.</a:t>
            </a:r>
            <a:endParaRPr lang="en-US" sz="1550" dirty="0"/>
          </a:p>
        </p:txBody>
      </p:sp>
      <p:sp>
        <p:nvSpPr>
          <p:cNvPr id="7" name="Text 5"/>
          <p:cNvSpPr/>
          <p:nvPr/>
        </p:nvSpPr>
        <p:spPr>
          <a:xfrm>
            <a:off x="685800" y="3913632"/>
            <a:ext cx="4572000" cy="237744"/>
          </a:xfrm>
          <a:prstGeom prst="rect">
            <a:avLst/>
          </a:prstGeom>
          <a:noFill/>
          <a:ln/>
        </p:spPr>
        <p:txBody>
          <a:bodyPr wrap="square" lIns="0" tIns="0" rIns="0" bIns="0" rtlCol="0" anchor="ctr">
            <a:normAutofit/>
          </a:bodyPr>
          <a:lstStyle/>
          <a:p>
            <a:pPr marL="0" indent="0">
              <a:buNone/>
            </a:pPr>
            <a:r>
              <a:rPr lang="en-US" sz="1020" b="1" dirty="0">
                <a:solidFill>
                  <a:srgbClr val="059669"/>
                </a:solidFill>
                <a:latin typeface="Aptos" pitchFamily="34" charset="0"/>
                <a:ea typeface="Aptos" pitchFamily="34" charset="-122"/>
                <a:cs typeface="Aptos" pitchFamily="34" charset="-120"/>
              </a:rPr>
              <a:t>State transition model</a:t>
            </a:r>
            <a:endParaRPr lang="en-US" sz="1020" dirty="0"/>
          </a:p>
        </p:txBody>
      </p:sp>
      <p:sp>
        <p:nvSpPr>
          <p:cNvPr id="8" name="Text 6"/>
          <p:cNvSpPr/>
          <p:nvPr/>
        </p:nvSpPr>
        <p:spPr>
          <a:xfrm>
            <a:off x="685800" y="4315968"/>
            <a:ext cx="5669280" cy="438912"/>
          </a:xfrm>
          <a:prstGeom prst="rect">
            <a:avLst/>
          </a:prstGeom>
          <a:noFill/>
          <a:ln/>
        </p:spPr>
        <p:txBody>
          <a:bodyPr wrap="square" lIns="508" tIns="508" rIns="508" bIns="508" rtlCol="0" anchor="ctr">
            <a:normAutofit/>
          </a:bodyPr>
          <a:lstStyle/>
          <a:p>
            <a:pPr marL="0" indent="0">
              <a:buNone/>
            </a:pPr>
            <a:r>
              <a:rPr lang="en-US" sz="1500" dirty="0">
                <a:solidFill>
                  <a:srgbClr val="172033"/>
                </a:solidFill>
                <a:latin typeface="Cambria Math" pitchFamily="34" charset="0"/>
                <a:ea typeface="Cambria Math" pitchFamily="34" charset="-122"/>
                <a:cs typeface="Cambria Math" pitchFamily="34" charset="-120"/>
              </a:rPr>
              <a:t>xₖ = F xₖ₋₁ + wₖ
FCA = [[1, Δt, 0.5Δt²], [0, 1, Δt], [0, 0, 1]]</a:t>
            </a:r>
            <a:endParaRPr lang="en-US" sz="1500" dirty="0"/>
          </a:p>
        </p:txBody>
      </p:sp>
      <p:sp>
        <p:nvSpPr>
          <p:cNvPr id="9" name="Text 7"/>
          <p:cNvSpPr/>
          <p:nvPr/>
        </p:nvSpPr>
        <p:spPr>
          <a:xfrm>
            <a:off x="6492240" y="1097280"/>
            <a:ext cx="4572000" cy="237744"/>
          </a:xfrm>
          <a:prstGeom prst="rect">
            <a:avLst/>
          </a:prstGeom>
          <a:noFill/>
          <a:ln/>
        </p:spPr>
        <p:txBody>
          <a:bodyPr wrap="square" lIns="0" tIns="0" rIns="0" bIns="0" rtlCol="0" anchor="ctr">
            <a:normAutofit/>
          </a:bodyPr>
          <a:lstStyle/>
          <a:p>
            <a:pPr marL="0" indent="0">
              <a:buNone/>
            </a:pPr>
            <a:r>
              <a:rPr lang="en-US" sz="1020" b="1" dirty="0">
                <a:solidFill>
                  <a:srgbClr val="EA580C"/>
                </a:solidFill>
                <a:latin typeface="Aptos" pitchFamily="34" charset="0"/>
                <a:ea typeface="Aptos" pitchFamily="34" charset="-122"/>
                <a:cs typeface="Aptos" pitchFamily="34" charset="-120"/>
              </a:rPr>
              <a:t>Why multiple models?</a:t>
            </a:r>
            <a:endParaRPr lang="en-US" sz="1020" dirty="0"/>
          </a:p>
        </p:txBody>
      </p:sp>
      <p:sp>
        <p:nvSpPr>
          <p:cNvPr id="10" name="Text 8"/>
          <p:cNvSpPr/>
          <p:nvPr/>
        </p:nvSpPr>
        <p:spPr>
          <a:xfrm>
            <a:off x="6537960" y="1481328"/>
            <a:ext cx="4937760" cy="1536192"/>
          </a:xfrm>
          <a:prstGeom prst="rect">
            <a:avLst/>
          </a:prstGeom>
          <a:noFill/>
          <a:ln/>
        </p:spPr>
        <p:txBody>
          <a:bodyPr wrap="square" lIns="508" tIns="508" rIns="508" bIns="508" rtlCol="0" anchor="ctr">
            <a:normAutofit/>
          </a:bodyPr>
          <a:lstStyle/>
          <a:p>
            <a:r>
              <a:rPr lang="en-US" sz="1550" dirty="0">
                <a:solidFill>
                  <a:srgbClr val="172033"/>
                </a:solidFill>
                <a:latin typeface="Aptos" pitchFamily="34" charset="0"/>
                <a:ea typeface="Aptos" pitchFamily="34" charset="-122"/>
                <a:cs typeface="Aptos" pitchFamily="34" charset="-120"/>
              </a:rPr>
              <a:t>CP model: almost stationary angular source.
</a:t>
            </a:r>
            <a:endParaRPr lang="en-US" sz="1550" dirty="0"/>
          </a:p>
          <a:p>
            <a:r>
              <a:rPr lang="en-US" sz="1550" dirty="0">
                <a:solidFill>
                  <a:srgbClr val="172033"/>
                </a:solidFill>
                <a:latin typeface="Aptos" pitchFamily="34" charset="0"/>
                <a:ea typeface="Aptos" pitchFamily="34" charset="-122"/>
                <a:cs typeface="Aptos" pitchFamily="34" charset="-120"/>
              </a:rPr>
              <a:t>CV model: constant angular velocity motion.
</a:t>
            </a:r>
            <a:endParaRPr lang="en-US" sz="1550" dirty="0"/>
          </a:p>
          <a:p>
            <a:r>
              <a:rPr lang="en-US" sz="1550" dirty="0">
                <a:solidFill>
                  <a:srgbClr val="172033"/>
                </a:solidFill>
                <a:latin typeface="Aptos" pitchFamily="34" charset="0"/>
                <a:ea typeface="Aptos" pitchFamily="34" charset="-122"/>
                <a:cs typeface="Aptos" pitchFamily="34" charset="-120"/>
              </a:rPr>
              <a:t>CA model: maneuvering or accelerated angular motion.
</a:t>
            </a:r>
            <a:endParaRPr lang="en-US" sz="1550" dirty="0"/>
          </a:p>
          <a:p>
            <a:r>
              <a:rPr lang="en-US" sz="1550" dirty="0">
                <a:solidFill>
                  <a:srgbClr val="172033"/>
                </a:solidFill>
                <a:latin typeface="Aptos" pitchFamily="34" charset="0"/>
                <a:ea typeface="Aptos" pitchFamily="34" charset="-122"/>
                <a:cs typeface="Aptos" pitchFamily="34" charset="-120"/>
              </a:rPr>
              <a:t>IMM combines them using Bayesian probabilities.</a:t>
            </a:r>
            <a:endParaRPr lang="en-US" sz="1550" dirty="0"/>
          </a:p>
        </p:txBody>
      </p:sp>
      <p:sp>
        <p:nvSpPr>
          <p:cNvPr id="11" name="Text 9"/>
          <p:cNvSpPr/>
          <p:nvPr/>
        </p:nvSpPr>
        <p:spPr>
          <a:xfrm>
            <a:off x="6492240" y="3675888"/>
            <a:ext cx="4572000" cy="237744"/>
          </a:xfrm>
          <a:prstGeom prst="rect">
            <a:avLst/>
          </a:prstGeom>
          <a:noFill/>
          <a:ln/>
        </p:spPr>
        <p:txBody>
          <a:bodyPr wrap="square" lIns="0" tIns="0" rIns="0" bIns="0" rtlCol="0" anchor="ctr">
            <a:normAutofit/>
          </a:bodyPr>
          <a:lstStyle/>
          <a:p>
            <a:pPr marL="0" indent="0">
              <a:buNone/>
            </a:pPr>
            <a:r>
              <a:rPr lang="en-US" sz="1020" b="1" dirty="0">
                <a:solidFill>
                  <a:srgbClr val="DC2626"/>
                </a:solidFill>
                <a:latin typeface="Aptos" pitchFamily="34" charset="0"/>
                <a:ea typeface="Aptos" pitchFamily="34" charset="-122"/>
                <a:cs typeface="Aptos" pitchFamily="34" charset="-120"/>
              </a:rPr>
              <a:t>Tracking interpretation</a:t>
            </a:r>
            <a:endParaRPr lang="en-US" sz="1020" dirty="0"/>
          </a:p>
        </p:txBody>
      </p:sp>
      <p:sp>
        <p:nvSpPr>
          <p:cNvPr id="12" name="Text 10"/>
          <p:cNvSpPr/>
          <p:nvPr/>
        </p:nvSpPr>
        <p:spPr>
          <a:xfrm>
            <a:off x="6537960" y="4059936"/>
            <a:ext cx="4937760" cy="658368"/>
          </a:xfrm>
          <a:prstGeom prst="rect">
            <a:avLst/>
          </a:prstGeom>
          <a:noFill/>
          <a:ln/>
        </p:spPr>
        <p:txBody>
          <a:bodyPr wrap="square" lIns="0" tIns="0" rIns="0" bIns="0" rtlCol="0" anchor="ctr">
            <a:normAutofit/>
          </a:bodyPr>
          <a:lstStyle/>
          <a:p>
            <a:pPr marL="0" indent="0">
              <a:buNone/>
            </a:pPr>
            <a:r>
              <a:rPr lang="en-US" sz="1600" b="1" dirty="0">
                <a:solidFill>
                  <a:srgbClr val="172033"/>
                </a:solidFill>
                <a:latin typeface="Aptos" pitchFamily="34" charset="0"/>
                <a:ea typeface="Aptos" pitchFamily="34" charset="-122"/>
                <a:cs typeface="Aptos" pitchFamily="34" charset="-120"/>
              </a:rPr>
              <a:t>The same angular state is used for SOI tracking when Tx1 is off and jammer tracking when Tx1 is on.</a:t>
            </a:r>
            <a:endParaRPr lang="en-US" sz="1600" dirty="0"/>
          </a:p>
        </p:txBody>
      </p:sp>
      <p:sp>
        <p:nvSpPr>
          <p:cNvPr id="13" name="Text 11"/>
          <p:cNvSpPr/>
          <p:nvPr/>
        </p:nvSpPr>
        <p:spPr>
          <a:xfrm>
            <a:off x="457200" y="6510528"/>
            <a:ext cx="11247120" cy="164592"/>
          </a:xfrm>
          <a:prstGeom prst="rect">
            <a:avLst/>
          </a:prstGeom>
          <a:noFill/>
          <a:ln/>
        </p:spPr>
        <p:txBody>
          <a:bodyPr wrap="square" lIns="0" tIns="0" rIns="0" bIns="0" rtlCol="0" anchor="ctr">
            <a:normAutofit/>
          </a:bodyPr>
          <a:lstStyle/>
          <a:p>
            <a:pPr marL="0" indent="0" algn="r">
              <a:buNone/>
            </a:pPr>
            <a:r>
              <a:rPr lang="en-US" sz="750" dirty="0">
                <a:solidFill>
                  <a:srgbClr val="94A3B8"/>
                </a:solidFill>
                <a:latin typeface="Aptos" pitchFamily="34" charset="0"/>
                <a:ea typeface="Aptos" pitchFamily="34" charset="-122"/>
                <a:cs typeface="Aptos" pitchFamily="34" charset="-120"/>
              </a:rPr>
              <a:t>EE4084 Kalman and Bayesian Filters • Project Presentation • 6/15</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37744"/>
            <a:ext cx="11247120" cy="420624"/>
          </a:xfrm>
          <a:prstGeom prst="rect">
            <a:avLst/>
          </a:prstGeom>
          <a:noFill/>
          <a:ln/>
        </p:spPr>
        <p:txBody>
          <a:bodyPr wrap="square" lIns="0" tIns="0" rIns="0" bIns="0" rtlCol="0" anchor="ctr">
            <a:normAutofit/>
          </a:bodyPr>
          <a:lstStyle/>
          <a:p>
            <a:pPr marL="0" indent="0">
              <a:buNone/>
            </a:pPr>
            <a:r>
              <a:rPr lang="en-US" sz="2200" b="1" dirty="0">
                <a:solidFill>
                  <a:srgbClr val="172033"/>
                </a:solidFill>
                <a:latin typeface="Aptos Display" pitchFamily="34" charset="0"/>
                <a:ea typeface="Aptos Display" pitchFamily="34" charset="-122"/>
                <a:cs typeface="Aptos Display" pitchFamily="34" charset="-120"/>
              </a:rPr>
              <a:t>Measurement model: MUSIC DoA as Kalman measurement</a:t>
            </a:r>
            <a:endParaRPr lang="en-US" sz="2200" dirty="0"/>
          </a:p>
        </p:txBody>
      </p:sp>
      <p:sp>
        <p:nvSpPr>
          <p:cNvPr id="3" name="Text 1"/>
          <p:cNvSpPr/>
          <p:nvPr/>
        </p:nvSpPr>
        <p:spPr>
          <a:xfrm>
            <a:off x="457200" y="704088"/>
            <a:ext cx="11247120" cy="237744"/>
          </a:xfrm>
          <a:prstGeom prst="rect">
            <a:avLst/>
          </a:prstGeom>
          <a:noFill/>
          <a:ln/>
        </p:spPr>
        <p:txBody>
          <a:bodyPr wrap="square" lIns="0" tIns="0" rIns="0" bIns="0" rtlCol="0" anchor="ctr">
            <a:normAutofit/>
          </a:bodyPr>
          <a:lstStyle/>
          <a:p>
            <a:pPr marL="0" indent="0">
              <a:buNone/>
            </a:pPr>
            <a:r>
              <a:rPr lang="en-US" sz="1150" dirty="0">
                <a:solidFill>
                  <a:srgbClr val="5D667A"/>
                </a:solidFill>
                <a:latin typeface="Aptos" pitchFamily="34" charset="0"/>
                <a:ea typeface="Aptos" pitchFamily="34" charset="-122"/>
                <a:cs typeface="Aptos" pitchFamily="34" charset="-120"/>
              </a:rPr>
              <a:t>The Kalman filter receives a scalar angle measurement from the MUSIC estimator.</a:t>
            </a:r>
            <a:endParaRPr lang="en-US" sz="1150" dirty="0"/>
          </a:p>
        </p:txBody>
      </p:sp>
      <p:pic>
        <p:nvPicPr>
          <p:cNvPr id="4" name="Image 0" descr="/mnt/data/no_jammer_result.png"/>
          <p:cNvPicPr>
            <a:picLocks noChangeAspect="1"/>
          </p:cNvPicPr>
          <p:nvPr/>
        </p:nvPicPr>
        <p:blipFill>
          <a:blip r:embed="rId3"/>
          <a:stretch>
            <a:fillRect/>
          </a:stretch>
        </p:blipFill>
        <p:spPr>
          <a:xfrm>
            <a:off x="559708" y="1097280"/>
            <a:ext cx="5189944" cy="3840480"/>
          </a:xfrm>
          <a:prstGeom prst="rect">
            <a:avLst/>
          </a:prstGeom>
        </p:spPr>
      </p:pic>
      <p:sp>
        <p:nvSpPr>
          <p:cNvPr id="5" name="Text 2"/>
          <p:cNvSpPr/>
          <p:nvPr/>
        </p:nvSpPr>
        <p:spPr>
          <a:xfrm>
            <a:off x="6126480" y="1051560"/>
            <a:ext cx="5029200" cy="237744"/>
          </a:xfrm>
          <a:prstGeom prst="rect">
            <a:avLst/>
          </a:prstGeom>
          <a:noFill/>
          <a:ln/>
        </p:spPr>
        <p:txBody>
          <a:bodyPr wrap="square" lIns="0" tIns="0" rIns="0" bIns="0" rtlCol="0" anchor="ctr">
            <a:normAutofit/>
          </a:bodyPr>
          <a:lstStyle/>
          <a:p>
            <a:pPr marL="0" indent="0">
              <a:buNone/>
            </a:pPr>
            <a:r>
              <a:rPr lang="en-US" sz="1020" b="1" dirty="0">
                <a:solidFill>
                  <a:srgbClr val="2563EB"/>
                </a:solidFill>
                <a:latin typeface="Aptos" pitchFamily="34" charset="0"/>
                <a:ea typeface="Aptos" pitchFamily="34" charset="-122"/>
                <a:cs typeface="Aptos" pitchFamily="34" charset="-120"/>
              </a:rPr>
              <a:t>Raw measurement generation</a:t>
            </a:r>
            <a:endParaRPr lang="en-US" sz="1020" dirty="0"/>
          </a:p>
        </p:txBody>
      </p:sp>
      <p:sp>
        <p:nvSpPr>
          <p:cNvPr id="6" name="Text 3"/>
          <p:cNvSpPr/>
          <p:nvPr/>
        </p:nvSpPr>
        <p:spPr>
          <a:xfrm>
            <a:off x="6126480" y="1417320"/>
            <a:ext cx="4846320" cy="310896"/>
          </a:xfrm>
          <a:prstGeom prst="rect">
            <a:avLst/>
          </a:prstGeom>
          <a:noFill/>
          <a:ln/>
        </p:spPr>
        <p:txBody>
          <a:bodyPr wrap="square" lIns="508" tIns="508" rIns="508" bIns="508" rtlCol="0" anchor="ctr">
            <a:normAutofit/>
          </a:bodyPr>
          <a:lstStyle/>
          <a:p>
            <a:pPr marL="0" indent="0">
              <a:buNone/>
            </a:pPr>
            <a:r>
              <a:rPr lang="en-US" sz="1600" dirty="0">
                <a:solidFill>
                  <a:srgbClr val="172033"/>
                </a:solidFill>
                <a:latin typeface="Cambria Math" pitchFamily="34" charset="0"/>
                <a:ea typeface="Cambria Math" pitchFamily="34" charset="-122"/>
                <a:cs typeface="Cambria Math" pitchFamily="34" charset="-120"/>
              </a:rPr>
              <a:t>Rxx = (1/N) Σ x(n)xᴴ(n)</a:t>
            </a:r>
            <a:endParaRPr lang="en-US" sz="1600" dirty="0"/>
          </a:p>
        </p:txBody>
      </p:sp>
      <p:sp>
        <p:nvSpPr>
          <p:cNvPr id="7" name="Text 4"/>
          <p:cNvSpPr/>
          <p:nvPr/>
        </p:nvSpPr>
        <p:spPr>
          <a:xfrm>
            <a:off x="6126480" y="1828800"/>
            <a:ext cx="5212080" cy="310896"/>
          </a:xfrm>
          <a:prstGeom prst="rect">
            <a:avLst/>
          </a:prstGeom>
          <a:noFill/>
          <a:ln/>
        </p:spPr>
        <p:txBody>
          <a:bodyPr wrap="square" lIns="508" tIns="508" rIns="508" bIns="508" rtlCol="0" anchor="ctr">
            <a:normAutofit/>
          </a:bodyPr>
          <a:lstStyle/>
          <a:p>
            <a:pPr marL="0" indent="0">
              <a:buNone/>
            </a:pPr>
            <a:r>
              <a:rPr lang="en-US" sz="1400" dirty="0">
                <a:solidFill>
                  <a:srgbClr val="172033"/>
                </a:solidFill>
                <a:latin typeface="Cambria Math" pitchFamily="34" charset="0"/>
                <a:ea typeface="Cambria Math" pitchFamily="34" charset="-122"/>
                <a:cs typeface="Cambria Math" pitchFamily="34" charset="-120"/>
              </a:rPr>
              <a:t>MUSIC peak gives the observed DoA angle</a:t>
            </a:r>
            <a:endParaRPr lang="en-US" sz="1400" dirty="0"/>
          </a:p>
        </p:txBody>
      </p:sp>
      <p:sp>
        <p:nvSpPr>
          <p:cNvPr id="8" name="Text 5"/>
          <p:cNvSpPr/>
          <p:nvPr/>
        </p:nvSpPr>
        <p:spPr>
          <a:xfrm>
            <a:off x="6126480" y="2633472"/>
            <a:ext cx="5029200" cy="237744"/>
          </a:xfrm>
          <a:prstGeom prst="rect">
            <a:avLst/>
          </a:prstGeom>
          <a:noFill/>
          <a:ln/>
        </p:spPr>
        <p:txBody>
          <a:bodyPr wrap="square" lIns="0" tIns="0" rIns="0" bIns="0" rtlCol="0" anchor="ctr">
            <a:normAutofit/>
          </a:bodyPr>
          <a:lstStyle/>
          <a:p>
            <a:pPr marL="0" indent="0">
              <a:buNone/>
            </a:pPr>
            <a:r>
              <a:rPr lang="en-US" sz="1020" b="1" dirty="0">
                <a:solidFill>
                  <a:srgbClr val="059669"/>
                </a:solidFill>
                <a:latin typeface="Aptos" pitchFamily="34" charset="0"/>
                <a:ea typeface="Aptos" pitchFamily="34" charset="-122"/>
                <a:cs typeface="Aptos" pitchFamily="34" charset="-120"/>
              </a:rPr>
              <a:t>MUSIC measurement</a:t>
            </a:r>
            <a:endParaRPr lang="en-US" sz="1020" dirty="0"/>
          </a:p>
        </p:txBody>
      </p:sp>
      <p:sp>
        <p:nvSpPr>
          <p:cNvPr id="9" name="Text 6"/>
          <p:cNvSpPr/>
          <p:nvPr/>
        </p:nvSpPr>
        <p:spPr>
          <a:xfrm>
            <a:off x="6126480" y="3017520"/>
            <a:ext cx="5120640" cy="347472"/>
          </a:xfrm>
          <a:prstGeom prst="rect">
            <a:avLst/>
          </a:prstGeom>
          <a:noFill/>
          <a:ln/>
        </p:spPr>
        <p:txBody>
          <a:bodyPr wrap="square" lIns="508" tIns="508" rIns="508" bIns="508" rtlCol="0" anchor="ctr">
            <a:normAutofit/>
          </a:bodyPr>
          <a:lstStyle/>
          <a:p>
            <a:pPr marL="0" indent="0">
              <a:buNone/>
            </a:pPr>
            <a:r>
              <a:rPr lang="en-US" sz="1500" dirty="0">
                <a:solidFill>
                  <a:srgbClr val="172033"/>
                </a:solidFill>
                <a:latin typeface="Cambria Math" pitchFamily="34" charset="0"/>
                <a:ea typeface="Cambria Math" pitchFamily="34" charset="-122"/>
                <a:cs typeface="Cambria Math" pitchFamily="34" charset="-120"/>
              </a:rPr>
              <a:t>PMUSIC(θ) = 1 / [aᴴ(θ)EnEnᴴa(θ)]</a:t>
            </a:r>
            <a:endParaRPr lang="en-US" sz="1500" dirty="0"/>
          </a:p>
        </p:txBody>
      </p:sp>
      <p:sp>
        <p:nvSpPr>
          <p:cNvPr id="10" name="Text 7"/>
          <p:cNvSpPr/>
          <p:nvPr/>
        </p:nvSpPr>
        <p:spPr>
          <a:xfrm>
            <a:off x="6126480" y="3493008"/>
            <a:ext cx="5029200" cy="347472"/>
          </a:xfrm>
          <a:prstGeom prst="rect">
            <a:avLst/>
          </a:prstGeom>
          <a:noFill/>
          <a:ln/>
        </p:spPr>
        <p:txBody>
          <a:bodyPr wrap="square" lIns="508" tIns="508" rIns="508" bIns="508" rtlCol="0" anchor="ctr">
            <a:normAutofit/>
          </a:bodyPr>
          <a:lstStyle/>
          <a:p>
            <a:pPr marL="0" indent="0">
              <a:buNone/>
            </a:pPr>
            <a:r>
              <a:rPr lang="en-US" sz="1500" dirty="0">
                <a:solidFill>
                  <a:srgbClr val="172033"/>
                </a:solidFill>
                <a:latin typeface="Cambria Math" pitchFamily="34" charset="0"/>
                <a:ea typeface="Cambria Math" pitchFamily="34" charset="-122"/>
                <a:cs typeface="Cambria Math" pitchFamily="34" charset="-120"/>
              </a:rPr>
              <a:t>zₖ = θ̂MUSIC,k = arg maxθ PMUSIC(θ)</a:t>
            </a:r>
            <a:endParaRPr lang="en-US" sz="1500" dirty="0"/>
          </a:p>
        </p:txBody>
      </p:sp>
      <p:sp>
        <p:nvSpPr>
          <p:cNvPr id="11" name="Text 8"/>
          <p:cNvSpPr/>
          <p:nvPr/>
        </p:nvSpPr>
        <p:spPr>
          <a:xfrm>
            <a:off x="6126480" y="4315968"/>
            <a:ext cx="5029200" cy="237744"/>
          </a:xfrm>
          <a:prstGeom prst="rect">
            <a:avLst/>
          </a:prstGeom>
          <a:noFill/>
          <a:ln/>
        </p:spPr>
        <p:txBody>
          <a:bodyPr wrap="square" lIns="0" tIns="0" rIns="0" bIns="0" rtlCol="0" anchor="ctr">
            <a:normAutofit/>
          </a:bodyPr>
          <a:lstStyle/>
          <a:p>
            <a:pPr marL="0" indent="0">
              <a:buNone/>
            </a:pPr>
            <a:r>
              <a:rPr lang="en-US" sz="1020" b="1" dirty="0">
                <a:solidFill>
                  <a:srgbClr val="EA580C"/>
                </a:solidFill>
                <a:latin typeface="Aptos" pitchFamily="34" charset="0"/>
                <a:ea typeface="Aptos" pitchFamily="34" charset="-122"/>
                <a:cs typeface="Aptos" pitchFamily="34" charset="-120"/>
              </a:rPr>
              <a:t>Measurement equation</a:t>
            </a:r>
            <a:endParaRPr lang="en-US" sz="1020" dirty="0"/>
          </a:p>
        </p:txBody>
      </p:sp>
      <p:sp>
        <p:nvSpPr>
          <p:cNvPr id="12" name="Text 9"/>
          <p:cNvSpPr/>
          <p:nvPr/>
        </p:nvSpPr>
        <p:spPr>
          <a:xfrm>
            <a:off x="6126480" y="4681728"/>
            <a:ext cx="4937760" cy="347472"/>
          </a:xfrm>
          <a:prstGeom prst="rect">
            <a:avLst/>
          </a:prstGeom>
          <a:noFill/>
          <a:ln/>
        </p:spPr>
        <p:txBody>
          <a:bodyPr wrap="square" lIns="508" tIns="508" rIns="508" bIns="508" rtlCol="0" anchor="ctr">
            <a:normAutofit/>
          </a:bodyPr>
          <a:lstStyle/>
          <a:p>
            <a:pPr marL="0" indent="0">
              <a:buNone/>
            </a:pPr>
            <a:r>
              <a:rPr lang="en-US" sz="1500" dirty="0">
                <a:solidFill>
                  <a:srgbClr val="172033"/>
                </a:solidFill>
                <a:latin typeface="Cambria Math" pitchFamily="34" charset="0"/>
                <a:ea typeface="Cambria Math" pitchFamily="34" charset="-122"/>
                <a:cs typeface="Cambria Math" pitchFamily="34" charset="-120"/>
              </a:rPr>
              <a:t>zₖ = Hxₖ + vₖ,     H = [1  0  0]</a:t>
            </a:r>
            <a:endParaRPr lang="en-US" sz="1500" dirty="0"/>
          </a:p>
        </p:txBody>
      </p:sp>
      <p:sp>
        <p:nvSpPr>
          <p:cNvPr id="13" name="Text 10"/>
          <p:cNvSpPr/>
          <p:nvPr/>
        </p:nvSpPr>
        <p:spPr>
          <a:xfrm>
            <a:off x="6144768" y="5285232"/>
            <a:ext cx="5029200" cy="384048"/>
          </a:xfrm>
          <a:prstGeom prst="rect">
            <a:avLst/>
          </a:prstGeom>
          <a:noFill/>
          <a:ln/>
        </p:spPr>
        <p:txBody>
          <a:bodyPr wrap="square" lIns="0" tIns="0" rIns="0" bIns="0" rtlCol="0" anchor="ctr">
            <a:normAutofit/>
          </a:bodyPr>
          <a:lstStyle/>
          <a:p>
            <a:pPr marL="0" indent="0">
              <a:buNone/>
            </a:pPr>
            <a:r>
              <a:rPr lang="en-US" sz="1400" dirty="0">
                <a:solidFill>
                  <a:srgbClr val="172033"/>
                </a:solidFill>
                <a:latin typeface="Aptos" pitchFamily="34" charset="0"/>
                <a:ea typeface="Aptos" pitchFamily="34" charset="-122"/>
                <a:cs typeface="Aptos" pitchFamily="34" charset="-120"/>
              </a:rPr>
              <a:t>The filter directly observes only angle; velocity and acceleration are inferred from the process model.</a:t>
            </a:r>
            <a:endParaRPr lang="en-US" sz="1400" dirty="0"/>
          </a:p>
        </p:txBody>
      </p:sp>
      <p:sp>
        <p:nvSpPr>
          <p:cNvPr id="14" name="Text 11"/>
          <p:cNvSpPr/>
          <p:nvPr/>
        </p:nvSpPr>
        <p:spPr>
          <a:xfrm>
            <a:off x="457200" y="6510528"/>
            <a:ext cx="11247120" cy="164592"/>
          </a:xfrm>
          <a:prstGeom prst="rect">
            <a:avLst/>
          </a:prstGeom>
          <a:noFill/>
          <a:ln/>
        </p:spPr>
        <p:txBody>
          <a:bodyPr wrap="square" lIns="0" tIns="0" rIns="0" bIns="0" rtlCol="0" anchor="ctr">
            <a:normAutofit/>
          </a:bodyPr>
          <a:lstStyle/>
          <a:p>
            <a:pPr marL="0" indent="0" algn="r">
              <a:buNone/>
            </a:pPr>
            <a:r>
              <a:rPr lang="en-US" sz="750" dirty="0">
                <a:solidFill>
                  <a:srgbClr val="94A3B8"/>
                </a:solidFill>
                <a:latin typeface="Aptos" pitchFamily="34" charset="0"/>
                <a:ea typeface="Aptos" pitchFamily="34" charset="-122"/>
                <a:cs typeface="Aptos" pitchFamily="34" charset="-120"/>
              </a:rPr>
              <a:t>EE4084 Kalman and Bayesian Filters • Project Presentation • 7/15</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37744"/>
            <a:ext cx="11247120" cy="420624"/>
          </a:xfrm>
          <a:prstGeom prst="rect">
            <a:avLst/>
          </a:prstGeom>
          <a:noFill/>
          <a:ln/>
        </p:spPr>
        <p:txBody>
          <a:bodyPr wrap="square" lIns="0" tIns="0" rIns="0" bIns="0" rtlCol="0" anchor="ctr">
            <a:normAutofit/>
          </a:bodyPr>
          <a:lstStyle/>
          <a:p>
            <a:pPr marL="0" indent="0">
              <a:buNone/>
            </a:pPr>
            <a:r>
              <a:rPr lang="en-US" sz="2200" b="1" dirty="0">
                <a:solidFill>
                  <a:srgbClr val="172033"/>
                </a:solidFill>
                <a:latin typeface="Aptos Display" pitchFamily="34" charset="0"/>
                <a:ea typeface="Aptos Display" pitchFamily="34" charset="-122"/>
                <a:cs typeface="Aptos Display" pitchFamily="34" charset="-120"/>
              </a:rPr>
              <a:t>IMM Kalman filter design and Bayesian model probabilities</a:t>
            </a:r>
            <a:endParaRPr lang="en-US" sz="2200" dirty="0"/>
          </a:p>
        </p:txBody>
      </p:sp>
      <p:sp>
        <p:nvSpPr>
          <p:cNvPr id="3" name="Text 1"/>
          <p:cNvSpPr/>
          <p:nvPr/>
        </p:nvSpPr>
        <p:spPr>
          <a:xfrm>
            <a:off x="457200" y="704088"/>
            <a:ext cx="11247120" cy="237744"/>
          </a:xfrm>
          <a:prstGeom prst="rect">
            <a:avLst/>
          </a:prstGeom>
          <a:noFill/>
          <a:ln/>
        </p:spPr>
        <p:txBody>
          <a:bodyPr wrap="square" lIns="0" tIns="0" rIns="0" bIns="0" rtlCol="0" anchor="ctr">
            <a:normAutofit/>
          </a:bodyPr>
          <a:lstStyle/>
          <a:p>
            <a:pPr marL="0" indent="0">
              <a:buNone/>
            </a:pPr>
            <a:r>
              <a:rPr lang="en-US" sz="1150" dirty="0">
                <a:solidFill>
                  <a:srgbClr val="5D667A"/>
                </a:solidFill>
                <a:latin typeface="Aptos" pitchFamily="34" charset="0"/>
                <a:ea typeface="Aptos" pitchFamily="34" charset="-122"/>
                <a:cs typeface="Aptos" pitchFamily="34" charset="-120"/>
              </a:rPr>
              <a:t>The IMM filter stabilizes DoA tracking and selects the most plausible angular motion model.</a:t>
            </a:r>
            <a:endParaRPr lang="en-US" sz="1150" dirty="0"/>
          </a:p>
        </p:txBody>
      </p:sp>
      <p:sp>
        <p:nvSpPr>
          <p:cNvPr id="4" name="Text 2"/>
          <p:cNvSpPr/>
          <p:nvPr/>
        </p:nvSpPr>
        <p:spPr>
          <a:xfrm>
            <a:off x="594360" y="987552"/>
            <a:ext cx="4572000" cy="237744"/>
          </a:xfrm>
          <a:prstGeom prst="rect">
            <a:avLst/>
          </a:prstGeom>
          <a:noFill/>
          <a:ln/>
        </p:spPr>
        <p:txBody>
          <a:bodyPr wrap="square" lIns="0" tIns="0" rIns="0" bIns="0" rtlCol="0" anchor="ctr">
            <a:normAutofit/>
          </a:bodyPr>
          <a:lstStyle/>
          <a:p>
            <a:pPr marL="0" indent="0">
              <a:buNone/>
            </a:pPr>
            <a:r>
              <a:rPr lang="en-US" sz="1020" b="1" dirty="0">
                <a:solidFill>
                  <a:srgbClr val="2563EB"/>
                </a:solidFill>
                <a:latin typeface="Aptos" pitchFamily="34" charset="0"/>
                <a:ea typeface="Aptos" pitchFamily="34" charset="-122"/>
                <a:cs typeface="Aptos" pitchFamily="34" charset="-120"/>
              </a:rPr>
              <a:t>IMM cycle</a:t>
            </a:r>
            <a:endParaRPr lang="en-US" sz="1020" dirty="0"/>
          </a:p>
        </p:txBody>
      </p:sp>
      <p:sp>
        <p:nvSpPr>
          <p:cNvPr id="5" name="Text 3"/>
          <p:cNvSpPr/>
          <p:nvPr/>
        </p:nvSpPr>
        <p:spPr>
          <a:xfrm>
            <a:off x="658368" y="1353312"/>
            <a:ext cx="5212080" cy="1481328"/>
          </a:xfrm>
          <a:prstGeom prst="rect">
            <a:avLst/>
          </a:prstGeom>
          <a:noFill/>
          <a:ln/>
        </p:spPr>
        <p:txBody>
          <a:bodyPr wrap="square" lIns="508" tIns="508" rIns="508" bIns="508" rtlCol="0" anchor="ctr">
            <a:normAutofit/>
          </a:bodyPr>
          <a:lstStyle/>
          <a:p>
            <a:r>
              <a:rPr lang="en-US" sz="1520" dirty="0">
                <a:solidFill>
                  <a:srgbClr val="172033"/>
                </a:solidFill>
                <a:latin typeface="Aptos" pitchFamily="34" charset="0"/>
                <a:ea typeface="Aptos" pitchFamily="34" charset="-122"/>
                <a:cs typeface="Aptos" pitchFamily="34" charset="-120"/>
              </a:rPr>
              <a:t>Mix previous model-conditioned estimates.
</a:t>
            </a:r>
            <a:endParaRPr lang="en-US" sz="1520" dirty="0"/>
          </a:p>
          <a:p>
            <a:r>
              <a:rPr lang="en-US" sz="1520" dirty="0">
                <a:solidFill>
                  <a:srgbClr val="172033"/>
                </a:solidFill>
                <a:latin typeface="Aptos" pitchFamily="34" charset="0"/>
                <a:ea typeface="Aptos" pitchFamily="34" charset="-122"/>
                <a:cs typeface="Aptos" pitchFamily="34" charset="-120"/>
              </a:rPr>
              <a:t>Run CP, CV, and CA Kalman filters in parallel.
</a:t>
            </a:r>
            <a:endParaRPr lang="en-US" sz="1520" dirty="0"/>
          </a:p>
          <a:p>
            <a:r>
              <a:rPr lang="en-US" sz="1520" dirty="0">
                <a:solidFill>
                  <a:srgbClr val="172033"/>
                </a:solidFill>
                <a:latin typeface="Aptos" pitchFamily="34" charset="0"/>
                <a:ea typeface="Aptos" pitchFamily="34" charset="-122"/>
                <a:cs typeface="Aptos" pitchFamily="34" charset="-120"/>
              </a:rPr>
              <a:t>Compute innovation and likelihood for each model.
</a:t>
            </a:r>
            <a:endParaRPr lang="en-US" sz="1520" dirty="0"/>
          </a:p>
          <a:p>
            <a:r>
              <a:rPr lang="en-US" sz="1520" dirty="0">
                <a:solidFill>
                  <a:srgbClr val="172033"/>
                </a:solidFill>
                <a:latin typeface="Aptos" pitchFamily="34" charset="0"/>
                <a:ea typeface="Aptos" pitchFamily="34" charset="-122"/>
                <a:cs typeface="Aptos" pitchFamily="34" charset="-120"/>
              </a:rPr>
              <a:t>Update model probabilities and combine estimates.</a:t>
            </a:r>
            <a:endParaRPr lang="en-US" sz="1520" dirty="0"/>
          </a:p>
        </p:txBody>
      </p:sp>
      <p:sp>
        <p:nvSpPr>
          <p:cNvPr id="6" name="Text 4"/>
          <p:cNvSpPr/>
          <p:nvPr/>
        </p:nvSpPr>
        <p:spPr>
          <a:xfrm>
            <a:off x="594360" y="3456432"/>
            <a:ext cx="4572000" cy="237744"/>
          </a:xfrm>
          <a:prstGeom prst="rect">
            <a:avLst/>
          </a:prstGeom>
          <a:noFill/>
          <a:ln/>
        </p:spPr>
        <p:txBody>
          <a:bodyPr wrap="square" lIns="0" tIns="0" rIns="0" bIns="0" rtlCol="0" anchor="ctr">
            <a:normAutofit/>
          </a:bodyPr>
          <a:lstStyle/>
          <a:p>
            <a:pPr marL="0" indent="0">
              <a:buNone/>
            </a:pPr>
            <a:r>
              <a:rPr lang="en-US" sz="1020" b="1" dirty="0">
                <a:solidFill>
                  <a:srgbClr val="059669"/>
                </a:solidFill>
                <a:latin typeface="Aptos" pitchFamily="34" charset="0"/>
                <a:ea typeface="Aptos" pitchFamily="34" charset="-122"/>
                <a:cs typeface="Aptos" pitchFamily="34" charset="-120"/>
              </a:rPr>
              <a:t>Kalman update per model</a:t>
            </a:r>
            <a:endParaRPr lang="en-US" sz="1020" dirty="0"/>
          </a:p>
        </p:txBody>
      </p:sp>
      <p:sp>
        <p:nvSpPr>
          <p:cNvPr id="7" name="Text 5"/>
          <p:cNvSpPr/>
          <p:nvPr/>
        </p:nvSpPr>
        <p:spPr>
          <a:xfrm>
            <a:off x="658368" y="3822192"/>
            <a:ext cx="5120640" cy="320040"/>
          </a:xfrm>
          <a:prstGeom prst="rect">
            <a:avLst/>
          </a:prstGeom>
          <a:noFill/>
          <a:ln/>
        </p:spPr>
        <p:txBody>
          <a:bodyPr wrap="square" lIns="508" tIns="508" rIns="508" bIns="508" rtlCol="0" anchor="ctr">
            <a:normAutofit/>
          </a:bodyPr>
          <a:lstStyle/>
          <a:p>
            <a:pPr marL="0" indent="0">
              <a:buNone/>
            </a:pPr>
            <a:r>
              <a:rPr lang="en-US" sz="1600" dirty="0">
                <a:solidFill>
                  <a:srgbClr val="172033"/>
                </a:solidFill>
                <a:latin typeface="Cambria Math" pitchFamily="34" charset="0"/>
                <a:ea typeface="Cambria Math" pitchFamily="34" charset="-122"/>
                <a:cs typeface="Cambria Math" pitchFamily="34" charset="-120"/>
              </a:rPr>
              <a:t>νₖ⁽ⁱ⁾ = zₖ − Hx̂ₖ|ₖ₋₁⁽ⁱ⁾</a:t>
            </a:r>
            <a:endParaRPr lang="en-US" sz="1600" dirty="0"/>
          </a:p>
        </p:txBody>
      </p:sp>
      <p:sp>
        <p:nvSpPr>
          <p:cNvPr id="8" name="Text 6"/>
          <p:cNvSpPr/>
          <p:nvPr/>
        </p:nvSpPr>
        <p:spPr>
          <a:xfrm>
            <a:off x="658368" y="4224528"/>
            <a:ext cx="5120640" cy="320040"/>
          </a:xfrm>
          <a:prstGeom prst="rect">
            <a:avLst/>
          </a:prstGeom>
          <a:noFill/>
          <a:ln/>
        </p:spPr>
        <p:txBody>
          <a:bodyPr wrap="square" lIns="508" tIns="508" rIns="508" bIns="508" rtlCol="0" anchor="ctr">
            <a:normAutofit/>
          </a:bodyPr>
          <a:lstStyle/>
          <a:p>
            <a:pPr marL="0" indent="0">
              <a:buNone/>
            </a:pPr>
            <a:r>
              <a:rPr lang="en-US" sz="1600" dirty="0">
                <a:solidFill>
                  <a:srgbClr val="172033"/>
                </a:solidFill>
                <a:latin typeface="Cambria Math" pitchFamily="34" charset="0"/>
                <a:ea typeface="Cambria Math" pitchFamily="34" charset="-122"/>
                <a:cs typeface="Cambria Math" pitchFamily="34" charset="-120"/>
              </a:rPr>
              <a:t>Kₖ⁽ⁱ⁾ = Pₖ|ₖ₋₁⁽ⁱ⁾Hᵀ / Sₖ⁽ⁱ⁾</a:t>
            </a:r>
            <a:endParaRPr lang="en-US" sz="1600" dirty="0"/>
          </a:p>
        </p:txBody>
      </p:sp>
      <p:sp>
        <p:nvSpPr>
          <p:cNvPr id="9" name="Text 7"/>
          <p:cNvSpPr/>
          <p:nvPr/>
        </p:nvSpPr>
        <p:spPr>
          <a:xfrm>
            <a:off x="658368" y="4626864"/>
            <a:ext cx="5303520" cy="320040"/>
          </a:xfrm>
          <a:prstGeom prst="rect">
            <a:avLst/>
          </a:prstGeom>
          <a:noFill/>
          <a:ln/>
        </p:spPr>
        <p:txBody>
          <a:bodyPr wrap="square" lIns="508" tIns="508" rIns="508" bIns="508" rtlCol="0" anchor="ctr">
            <a:normAutofit/>
          </a:bodyPr>
          <a:lstStyle/>
          <a:p>
            <a:pPr marL="0" indent="0">
              <a:buNone/>
            </a:pPr>
            <a:r>
              <a:rPr lang="en-US" sz="1550" dirty="0">
                <a:solidFill>
                  <a:srgbClr val="172033"/>
                </a:solidFill>
                <a:latin typeface="Cambria Math" pitchFamily="34" charset="0"/>
                <a:ea typeface="Cambria Math" pitchFamily="34" charset="-122"/>
                <a:cs typeface="Cambria Math" pitchFamily="34" charset="-120"/>
              </a:rPr>
              <a:t>x̂ₖ|ₖ⁽ⁱ⁾ = x̂ₖ|ₖ₋₁⁽ⁱ⁾ + Kₖ⁽ⁱ⁾νₖ⁽ⁱ⁾</a:t>
            </a:r>
            <a:endParaRPr lang="en-US" sz="1550" dirty="0"/>
          </a:p>
        </p:txBody>
      </p:sp>
      <p:sp>
        <p:nvSpPr>
          <p:cNvPr id="10" name="Text 8"/>
          <p:cNvSpPr/>
          <p:nvPr/>
        </p:nvSpPr>
        <p:spPr>
          <a:xfrm>
            <a:off x="6400800" y="987552"/>
            <a:ext cx="4572000" cy="237744"/>
          </a:xfrm>
          <a:prstGeom prst="rect">
            <a:avLst/>
          </a:prstGeom>
          <a:noFill/>
          <a:ln/>
        </p:spPr>
        <p:txBody>
          <a:bodyPr wrap="square" lIns="0" tIns="0" rIns="0" bIns="0" rtlCol="0" anchor="ctr">
            <a:normAutofit/>
          </a:bodyPr>
          <a:lstStyle/>
          <a:p>
            <a:pPr marL="0" indent="0">
              <a:buNone/>
            </a:pPr>
            <a:r>
              <a:rPr lang="en-US" sz="1020" b="1" dirty="0">
                <a:solidFill>
                  <a:srgbClr val="EA580C"/>
                </a:solidFill>
                <a:latin typeface="Aptos" pitchFamily="34" charset="0"/>
                <a:ea typeface="Aptos" pitchFamily="34" charset="-122"/>
                <a:cs typeface="Aptos" pitchFamily="34" charset="-120"/>
              </a:rPr>
              <a:t>Probability update</a:t>
            </a:r>
            <a:endParaRPr lang="en-US" sz="1020" dirty="0"/>
          </a:p>
        </p:txBody>
      </p:sp>
      <p:sp>
        <p:nvSpPr>
          <p:cNvPr id="11" name="Text 9"/>
          <p:cNvSpPr/>
          <p:nvPr/>
        </p:nvSpPr>
        <p:spPr>
          <a:xfrm>
            <a:off x="6446520" y="1353312"/>
            <a:ext cx="4754880" cy="365760"/>
          </a:xfrm>
          <a:prstGeom prst="rect">
            <a:avLst/>
          </a:prstGeom>
          <a:noFill/>
          <a:ln/>
        </p:spPr>
        <p:txBody>
          <a:bodyPr wrap="square" lIns="508" tIns="508" rIns="508" bIns="508" rtlCol="0" anchor="ctr">
            <a:normAutofit/>
          </a:bodyPr>
          <a:lstStyle/>
          <a:p>
            <a:pPr marL="0" indent="0">
              <a:buNone/>
            </a:pPr>
            <a:r>
              <a:rPr lang="en-US" sz="1600" dirty="0">
                <a:solidFill>
                  <a:srgbClr val="172033"/>
                </a:solidFill>
                <a:latin typeface="Cambria Math" pitchFamily="34" charset="0"/>
                <a:ea typeface="Cambria Math" pitchFamily="34" charset="-122"/>
                <a:cs typeface="Cambria Math" pitchFamily="34" charset="-120"/>
              </a:rPr>
              <a:t>Λₖ⁽ⁱ⁾ ∝ exp(−0.5ν²/S) / √S</a:t>
            </a:r>
            <a:endParaRPr lang="en-US" sz="1600" dirty="0"/>
          </a:p>
        </p:txBody>
      </p:sp>
      <p:sp>
        <p:nvSpPr>
          <p:cNvPr id="12" name="Text 10"/>
          <p:cNvSpPr/>
          <p:nvPr/>
        </p:nvSpPr>
        <p:spPr>
          <a:xfrm>
            <a:off x="6446520" y="1874520"/>
            <a:ext cx="4892040" cy="384048"/>
          </a:xfrm>
          <a:prstGeom prst="rect">
            <a:avLst/>
          </a:prstGeom>
          <a:noFill/>
          <a:ln/>
        </p:spPr>
        <p:txBody>
          <a:bodyPr wrap="square" lIns="508" tIns="508" rIns="508" bIns="508" rtlCol="0" anchor="ctr">
            <a:normAutofit/>
          </a:bodyPr>
          <a:lstStyle/>
          <a:p>
            <a:pPr marL="0" indent="0">
              <a:buNone/>
            </a:pPr>
            <a:r>
              <a:rPr lang="en-US" sz="1500" dirty="0">
                <a:solidFill>
                  <a:srgbClr val="172033"/>
                </a:solidFill>
                <a:latin typeface="Cambria Math" pitchFamily="34" charset="0"/>
                <a:ea typeface="Cambria Math" pitchFamily="34" charset="-122"/>
                <a:cs typeface="Cambria Math" pitchFamily="34" charset="-120"/>
              </a:rPr>
              <a:t>μₖ⁽ⁱ⁾ = Λₖ⁽ⁱ⁾ μ̄ₖ⁽ⁱ⁾ / ΣⱼΛₖ⁽ʲ⁾ μ̄ₖ⁽ʲ⁾</a:t>
            </a:r>
            <a:endParaRPr lang="en-US" sz="1500" dirty="0"/>
          </a:p>
        </p:txBody>
      </p:sp>
      <p:sp>
        <p:nvSpPr>
          <p:cNvPr id="13" name="Text 11"/>
          <p:cNvSpPr/>
          <p:nvPr/>
        </p:nvSpPr>
        <p:spPr>
          <a:xfrm>
            <a:off x="6446520" y="2395728"/>
            <a:ext cx="4892040" cy="384048"/>
          </a:xfrm>
          <a:prstGeom prst="rect">
            <a:avLst/>
          </a:prstGeom>
          <a:noFill/>
          <a:ln/>
        </p:spPr>
        <p:txBody>
          <a:bodyPr wrap="square" lIns="508" tIns="508" rIns="508" bIns="508" rtlCol="0" anchor="ctr">
            <a:normAutofit/>
          </a:bodyPr>
          <a:lstStyle/>
          <a:p>
            <a:pPr marL="0" indent="0">
              <a:buNone/>
            </a:pPr>
            <a:r>
              <a:rPr lang="en-US" sz="1600" dirty="0">
                <a:solidFill>
                  <a:srgbClr val="172033"/>
                </a:solidFill>
                <a:latin typeface="Cambria Math" pitchFamily="34" charset="0"/>
                <a:ea typeface="Cambria Math" pitchFamily="34" charset="-122"/>
                <a:cs typeface="Cambria Math" pitchFamily="34" charset="-120"/>
              </a:rPr>
              <a:t>x̂ₖ = Σᵢ μₖ⁽ⁱ⁾ x̂ₖ⁽ⁱ⁾</a:t>
            </a:r>
            <a:endParaRPr lang="en-US" sz="1600" dirty="0"/>
          </a:p>
        </p:txBody>
      </p:sp>
      <p:sp>
        <p:nvSpPr>
          <p:cNvPr id="14" name="Text 12"/>
          <p:cNvSpPr/>
          <p:nvPr/>
        </p:nvSpPr>
        <p:spPr>
          <a:xfrm>
            <a:off x="6400800" y="3383280"/>
            <a:ext cx="4572000" cy="237744"/>
          </a:xfrm>
          <a:prstGeom prst="rect">
            <a:avLst/>
          </a:prstGeom>
          <a:noFill/>
          <a:ln/>
        </p:spPr>
        <p:txBody>
          <a:bodyPr wrap="square" lIns="0" tIns="0" rIns="0" bIns="0" rtlCol="0" anchor="ctr">
            <a:normAutofit/>
          </a:bodyPr>
          <a:lstStyle/>
          <a:p>
            <a:pPr marL="0" indent="0">
              <a:buNone/>
            </a:pPr>
            <a:r>
              <a:rPr lang="en-US" sz="1020" b="1" dirty="0">
                <a:solidFill>
                  <a:srgbClr val="DC2626"/>
                </a:solidFill>
                <a:latin typeface="Aptos" pitchFamily="34" charset="0"/>
                <a:ea typeface="Aptos" pitchFamily="34" charset="-122"/>
                <a:cs typeface="Aptos" pitchFamily="34" charset="-120"/>
              </a:rPr>
              <a:t>Important distinction</a:t>
            </a:r>
            <a:endParaRPr lang="en-US" sz="1020" dirty="0"/>
          </a:p>
        </p:txBody>
      </p:sp>
      <p:sp>
        <p:nvSpPr>
          <p:cNvPr id="15" name="Text 13"/>
          <p:cNvSpPr/>
          <p:nvPr/>
        </p:nvSpPr>
        <p:spPr>
          <a:xfrm>
            <a:off x="6446520" y="3749040"/>
            <a:ext cx="4892040" cy="749808"/>
          </a:xfrm>
          <a:prstGeom prst="rect">
            <a:avLst/>
          </a:prstGeom>
          <a:noFill/>
          <a:ln/>
        </p:spPr>
        <p:txBody>
          <a:bodyPr wrap="square" lIns="0" tIns="0" rIns="0" bIns="0" rtlCol="0" anchor="ctr">
            <a:normAutofit/>
          </a:bodyPr>
          <a:lstStyle/>
          <a:p>
            <a:pPr marL="0" indent="0">
              <a:buNone/>
            </a:pPr>
            <a:r>
              <a:rPr lang="en-US" sz="1530" b="1" dirty="0">
                <a:solidFill>
                  <a:srgbClr val="172033"/>
                </a:solidFill>
                <a:latin typeface="Aptos" pitchFamily="34" charset="0"/>
                <a:ea typeface="Aptos" pitchFamily="34" charset="-122"/>
                <a:cs typeface="Aptos" pitchFamily="34" charset="-120"/>
              </a:rPr>
              <a:t>IMM switches between motion models, not between source identities. The source identity is selected by the jammer state: SOI when Tx1 is off, jammer when Tx1 is on.</a:t>
            </a:r>
            <a:endParaRPr lang="en-US" sz="1530" dirty="0"/>
          </a:p>
        </p:txBody>
      </p:sp>
      <p:sp>
        <p:nvSpPr>
          <p:cNvPr id="16" name="Text 14"/>
          <p:cNvSpPr/>
          <p:nvPr/>
        </p:nvSpPr>
        <p:spPr>
          <a:xfrm>
            <a:off x="457200" y="6510528"/>
            <a:ext cx="11247120" cy="164592"/>
          </a:xfrm>
          <a:prstGeom prst="rect">
            <a:avLst/>
          </a:prstGeom>
          <a:noFill/>
          <a:ln/>
        </p:spPr>
        <p:txBody>
          <a:bodyPr wrap="square" lIns="0" tIns="0" rIns="0" bIns="0" rtlCol="0" anchor="ctr">
            <a:normAutofit/>
          </a:bodyPr>
          <a:lstStyle/>
          <a:p>
            <a:pPr marL="0" indent="0" algn="r">
              <a:buNone/>
            </a:pPr>
            <a:r>
              <a:rPr lang="en-US" sz="750" dirty="0">
                <a:solidFill>
                  <a:srgbClr val="94A3B8"/>
                </a:solidFill>
                <a:latin typeface="Aptos" pitchFamily="34" charset="0"/>
                <a:ea typeface="Aptos" pitchFamily="34" charset="-122"/>
                <a:cs typeface="Aptos" pitchFamily="34" charset="-120"/>
              </a:rPr>
              <a:t>EE4084 Kalman and Bayesian Filters • Project Presentation • 8/15</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37744"/>
            <a:ext cx="11247120" cy="420624"/>
          </a:xfrm>
          <a:prstGeom prst="rect">
            <a:avLst/>
          </a:prstGeom>
          <a:noFill/>
          <a:ln/>
        </p:spPr>
        <p:txBody>
          <a:bodyPr wrap="square" lIns="0" tIns="0" rIns="0" bIns="0" rtlCol="0" anchor="ctr">
            <a:normAutofit/>
          </a:bodyPr>
          <a:lstStyle/>
          <a:p>
            <a:pPr marL="0" indent="0">
              <a:buNone/>
            </a:pPr>
            <a:r>
              <a:rPr lang="en-US" sz="2200" b="1" dirty="0">
                <a:solidFill>
                  <a:srgbClr val="172033"/>
                </a:solidFill>
                <a:latin typeface="Aptos Display" pitchFamily="34" charset="0"/>
                <a:ea typeface="Aptos Display" pitchFamily="34" charset="-122"/>
                <a:cs typeface="Aptos Display" pitchFamily="34" charset="-120"/>
              </a:rPr>
              <a:t>Practical filter details: adaptive measurement noise and safeguards</a:t>
            </a:r>
            <a:endParaRPr lang="en-US" sz="2200" dirty="0"/>
          </a:p>
        </p:txBody>
      </p:sp>
      <p:sp>
        <p:nvSpPr>
          <p:cNvPr id="3" name="Text 1"/>
          <p:cNvSpPr/>
          <p:nvPr/>
        </p:nvSpPr>
        <p:spPr>
          <a:xfrm>
            <a:off x="457200" y="704088"/>
            <a:ext cx="11247120" cy="237744"/>
          </a:xfrm>
          <a:prstGeom prst="rect">
            <a:avLst/>
          </a:prstGeom>
          <a:noFill/>
          <a:ln/>
        </p:spPr>
        <p:txBody>
          <a:bodyPr wrap="square" lIns="0" tIns="0" rIns="0" bIns="0" rtlCol="0" anchor="ctr">
            <a:normAutofit/>
          </a:bodyPr>
          <a:lstStyle/>
          <a:p>
            <a:pPr marL="0" indent="0">
              <a:buNone/>
            </a:pPr>
            <a:r>
              <a:rPr lang="en-US" sz="1150" dirty="0">
                <a:solidFill>
                  <a:srgbClr val="5D667A"/>
                </a:solidFill>
                <a:latin typeface="Aptos" pitchFamily="34" charset="0"/>
                <a:ea typeface="Aptos" pitchFamily="34" charset="-122"/>
                <a:cs typeface="Aptos" pitchFamily="34" charset="-120"/>
              </a:rPr>
              <a:t>Real-time SDR data is noisy; the tracker must avoid overreacting to unreliable MUSIC peaks.</a:t>
            </a:r>
            <a:endParaRPr lang="en-US" sz="1150" dirty="0"/>
          </a:p>
        </p:txBody>
      </p:sp>
      <p:sp>
        <p:nvSpPr>
          <p:cNvPr id="4" name="Text 2"/>
          <p:cNvSpPr/>
          <p:nvPr/>
        </p:nvSpPr>
        <p:spPr>
          <a:xfrm>
            <a:off x="658368" y="1060704"/>
            <a:ext cx="5120640" cy="237744"/>
          </a:xfrm>
          <a:prstGeom prst="rect">
            <a:avLst/>
          </a:prstGeom>
          <a:noFill/>
          <a:ln/>
        </p:spPr>
        <p:txBody>
          <a:bodyPr wrap="square" lIns="0" tIns="0" rIns="0" bIns="0" rtlCol="0" anchor="ctr">
            <a:normAutofit/>
          </a:bodyPr>
          <a:lstStyle/>
          <a:p>
            <a:pPr marL="0" indent="0">
              <a:buNone/>
            </a:pPr>
            <a:r>
              <a:rPr lang="en-US" sz="1400" b="1" dirty="0">
                <a:solidFill>
                  <a:srgbClr val="2563EB"/>
                </a:solidFill>
                <a:latin typeface="Aptos" pitchFamily="34" charset="0"/>
                <a:ea typeface="Aptos" pitchFamily="34" charset="-122"/>
                <a:cs typeface="Aptos" pitchFamily="34" charset="-120"/>
              </a:rPr>
              <a:t>Measurement reliability indicators</a:t>
            </a:r>
            <a:endParaRPr lang="en-US" sz="1400" dirty="0"/>
          </a:p>
        </p:txBody>
      </p:sp>
      <p:sp>
        <p:nvSpPr>
          <p:cNvPr id="5" name="Text 3"/>
          <p:cNvSpPr/>
          <p:nvPr/>
        </p:nvSpPr>
        <p:spPr>
          <a:xfrm>
            <a:off x="658368" y="1444752"/>
            <a:ext cx="5394960" cy="1572768"/>
          </a:xfrm>
          <a:prstGeom prst="rect">
            <a:avLst/>
          </a:prstGeom>
          <a:noFill/>
          <a:ln/>
        </p:spPr>
        <p:txBody>
          <a:bodyPr wrap="square" lIns="508" tIns="508" rIns="508" bIns="508" rtlCol="0" anchor="ctr">
            <a:normAutofit fontScale="92500" lnSpcReduction="10000"/>
          </a:bodyPr>
          <a:lstStyle/>
          <a:p>
            <a:r>
              <a:rPr lang="en-US" sz="1520" dirty="0">
                <a:solidFill>
                  <a:srgbClr val="172033"/>
                </a:solidFill>
                <a:latin typeface="Aptos" pitchFamily="34" charset="0"/>
                <a:ea typeface="Aptos" pitchFamily="34" charset="-122"/>
                <a:cs typeface="Aptos" pitchFamily="34" charset="-120"/>
              </a:rPr>
              <a:t>MUSIC peak sharpness: sharp peak means reliable DoA.
</a:t>
            </a:r>
            <a:endParaRPr lang="en-US" sz="1520" dirty="0"/>
          </a:p>
          <a:p>
            <a:r>
              <a:rPr lang="en-US" sz="1520" dirty="0">
                <a:solidFill>
                  <a:srgbClr val="172033"/>
                </a:solidFill>
                <a:latin typeface="Aptos" pitchFamily="34" charset="0"/>
                <a:ea typeface="Aptos" pitchFamily="34" charset="-122"/>
                <a:cs typeface="Aptos" pitchFamily="34" charset="-120"/>
              </a:rPr>
              <a:t>Condition number of Rxx: ill-conditioned covariance reduces confidence.
</a:t>
            </a:r>
            <a:endParaRPr lang="en-US" sz="1520" dirty="0"/>
          </a:p>
          <a:p>
            <a:r>
              <a:rPr lang="en-US" sz="1520" dirty="0">
                <a:solidFill>
                  <a:srgbClr val="172033"/>
                </a:solidFill>
                <a:latin typeface="Aptos" pitchFamily="34" charset="0"/>
                <a:ea typeface="Aptos" pitchFamily="34" charset="-122"/>
                <a:cs typeface="Aptos" pitchFamily="34" charset="-120"/>
              </a:rPr>
              <a:t>RSSI level: weak signal increases uncertainty.
</a:t>
            </a:r>
            <a:endParaRPr lang="en-US" sz="1520" dirty="0"/>
          </a:p>
          <a:p>
            <a:r>
              <a:rPr lang="en-US" sz="1520" dirty="0">
                <a:solidFill>
                  <a:srgbClr val="172033"/>
                </a:solidFill>
                <a:latin typeface="Aptos" pitchFamily="34" charset="0"/>
                <a:ea typeface="Aptos" pitchFamily="34" charset="-122"/>
                <a:cs typeface="Aptos" pitchFamily="34" charset="-120"/>
              </a:rPr>
              <a:t>Rσ is increased when measurements become unreliable.</a:t>
            </a:r>
            <a:endParaRPr lang="en-US" sz="1520" dirty="0"/>
          </a:p>
        </p:txBody>
      </p:sp>
      <p:sp>
        <p:nvSpPr>
          <p:cNvPr id="6" name="Text 4"/>
          <p:cNvSpPr/>
          <p:nvPr/>
        </p:nvSpPr>
        <p:spPr>
          <a:xfrm>
            <a:off x="658368" y="3785616"/>
            <a:ext cx="5120640" cy="237744"/>
          </a:xfrm>
          <a:prstGeom prst="rect">
            <a:avLst/>
          </a:prstGeom>
          <a:noFill/>
          <a:ln/>
        </p:spPr>
        <p:txBody>
          <a:bodyPr wrap="square" lIns="0" tIns="0" rIns="0" bIns="0" rtlCol="0" anchor="ctr">
            <a:normAutofit/>
          </a:bodyPr>
          <a:lstStyle/>
          <a:p>
            <a:pPr marL="0" indent="0">
              <a:buNone/>
            </a:pPr>
            <a:r>
              <a:rPr lang="en-US" sz="1400" b="1" dirty="0">
                <a:solidFill>
                  <a:srgbClr val="059669"/>
                </a:solidFill>
                <a:latin typeface="Aptos" pitchFamily="34" charset="0"/>
                <a:ea typeface="Aptos" pitchFamily="34" charset="-122"/>
                <a:cs typeface="Aptos" pitchFamily="34" charset="-120"/>
              </a:rPr>
              <a:t>Mode-change handling</a:t>
            </a:r>
            <a:endParaRPr lang="en-US" sz="1400" dirty="0"/>
          </a:p>
        </p:txBody>
      </p:sp>
      <p:sp>
        <p:nvSpPr>
          <p:cNvPr id="7" name="Text 5"/>
          <p:cNvSpPr/>
          <p:nvPr/>
        </p:nvSpPr>
        <p:spPr>
          <a:xfrm>
            <a:off x="658368" y="4096512"/>
            <a:ext cx="5394960" cy="1170432"/>
          </a:xfrm>
          <a:prstGeom prst="rect">
            <a:avLst/>
          </a:prstGeom>
          <a:noFill/>
          <a:ln/>
        </p:spPr>
        <p:txBody>
          <a:bodyPr wrap="square" lIns="508" tIns="508" rIns="508" bIns="508" rtlCol="0" anchor="ctr">
            <a:normAutofit/>
          </a:bodyPr>
          <a:lstStyle/>
          <a:p>
            <a:r>
              <a:rPr lang="en-US" sz="1520" dirty="0">
                <a:solidFill>
                  <a:srgbClr val="172033"/>
                </a:solidFill>
                <a:latin typeface="Aptos" pitchFamily="34" charset="0"/>
                <a:ea typeface="Aptos" pitchFamily="34" charset="-122"/>
                <a:cs typeface="Aptos" pitchFamily="34" charset="-120"/>
              </a:rPr>
              <a:t>When target label changes, the IMM tracker is reinitialized.
</a:t>
            </a:r>
            <a:endParaRPr lang="en-US" sz="1520" dirty="0"/>
          </a:p>
          <a:p>
            <a:r>
              <a:rPr lang="en-US" sz="1520" dirty="0">
                <a:solidFill>
                  <a:srgbClr val="172033"/>
                </a:solidFill>
                <a:latin typeface="Aptos" pitchFamily="34" charset="0"/>
                <a:ea typeface="Aptos" pitchFamily="34" charset="-122"/>
                <a:cs typeface="Aptos" pitchFamily="34" charset="-120"/>
              </a:rPr>
              <a:t>This avoids long transients from SOI angle to jammer angle.
</a:t>
            </a:r>
            <a:endParaRPr lang="en-US" sz="1520" dirty="0"/>
          </a:p>
          <a:p>
            <a:r>
              <a:rPr lang="en-US" sz="1520" dirty="0">
                <a:solidFill>
                  <a:srgbClr val="172033"/>
                </a:solidFill>
                <a:latin typeface="Aptos" pitchFamily="34" charset="0"/>
                <a:ea typeface="Aptos" pitchFamily="34" charset="-122"/>
                <a:cs typeface="Aptos" pitchFamily="34" charset="-120"/>
              </a:rPr>
              <a:t>The GUI reports IMM target: SOI or JAMMER.</a:t>
            </a:r>
            <a:endParaRPr lang="en-US" sz="1520" dirty="0"/>
          </a:p>
        </p:txBody>
      </p:sp>
      <p:sp>
        <p:nvSpPr>
          <p:cNvPr id="8" name="Text 6"/>
          <p:cNvSpPr/>
          <p:nvPr/>
        </p:nvSpPr>
        <p:spPr>
          <a:xfrm>
            <a:off x="6492240" y="1078992"/>
            <a:ext cx="5120640" cy="237744"/>
          </a:xfrm>
          <a:prstGeom prst="rect">
            <a:avLst/>
          </a:prstGeom>
          <a:noFill/>
          <a:ln/>
        </p:spPr>
        <p:txBody>
          <a:bodyPr wrap="square" lIns="0" tIns="0" rIns="0" bIns="0" rtlCol="0" anchor="ctr">
            <a:normAutofit/>
          </a:bodyPr>
          <a:lstStyle/>
          <a:p>
            <a:pPr marL="0" indent="0">
              <a:buNone/>
            </a:pPr>
            <a:r>
              <a:rPr lang="en-US" sz="1400" b="1" dirty="0">
                <a:solidFill>
                  <a:srgbClr val="DC2626"/>
                </a:solidFill>
                <a:latin typeface="Aptos" pitchFamily="34" charset="0"/>
                <a:ea typeface="Aptos" pitchFamily="34" charset="-122"/>
                <a:cs typeface="Aptos" pitchFamily="34" charset="-120"/>
              </a:rPr>
              <a:t>Two-channel limitation</a:t>
            </a:r>
            <a:endParaRPr lang="en-US" sz="1400" dirty="0"/>
          </a:p>
        </p:txBody>
      </p:sp>
      <p:sp>
        <p:nvSpPr>
          <p:cNvPr id="9" name="Text 7"/>
          <p:cNvSpPr/>
          <p:nvPr/>
        </p:nvSpPr>
        <p:spPr>
          <a:xfrm>
            <a:off x="6492240" y="1444752"/>
            <a:ext cx="4937760" cy="749808"/>
          </a:xfrm>
          <a:prstGeom prst="rect">
            <a:avLst/>
          </a:prstGeom>
          <a:noFill/>
          <a:ln/>
        </p:spPr>
        <p:txBody>
          <a:bodyPr wrap="square" lIns="0" tIns="0" rIns="0" bIns="0" rtlCol="0" anchor="ctr">
            <a:normAutofit/>
          </a:bodyPr>
          <a:lstStyle/>
          <a:p>
            <a:pPr marL="0" indent="0">
              <a:buNone/>
            </a:pPr>
            <a:r>
              <a:rPr lang="en-US" sz="1550" b="1" dirty="0">
                <a:solidFill>
                  <a:srgbClr val="172033"/>
                </a:solidFill>
                <a:latin typeface="Aptos" pitchFamily="34" charset="0"/>
                <a:ea typeface="Aptos" pitchFamily="34" charset="-122"/>
                <a:cs typeface="Aptos" pitchFamily="34" charset="-120"/>
              </a:rPr>
              <a:t>With two RX channels, MUSIC estimates one dominant source. Therefore, source interpretation is based on Tx1 jammer state, not simultaneous multi-source resolution.</a:t>
            </a:r>
            <a:endParaRPr lang="en-US" sz="1550" dirty="0"/>
          </a:p>
        </p:txBody>
      </p:sp>
      <p:sp>
        <p:nvSpPr>
          <p:cNvPr id="10" name="Text 8"/>
          <p:cNvSpPr/>
          <p:nvPr/>
        </p:nvSpPr>
        <p:spPr>
          <a:xfrm>
            <a:off x="6492240" y="2779776"/>
            <a:ext cx="5120640" cy="237744"/>
          </a:xfrm>
          <a:prstGeom prst="rect">
            <a:avLst/>
          </a:prstGeom>
          <a:noFill/>
          <a:ln/>
        </p:spPr>
        <p:txBody>
          <a:bodyPr wrap="square" lIns="0" tIns="0" rIns="0" bIns="0" rtlCol="0" anchor="ctr">
            <a:normAutofit/>
          </a:bodyPr>
          <a:lstStyle/>
          <a:p>
            <a:pPr marL="0" indent="0">
              <a:buNone/>
            </a:pPr>
            <a:r>
              <a:rPr lang="en-US" sz="1400" b="1" dirty="0">
                <a:solidFill>
                  <a:srgbClr val="EA580C"/>
                </a:solidFill>
                <a:latin typeface="Aptos" pitchFamily="34" charset="0"/>
                <a:ea typeface="Aptos" pitchFamily="34" charset="-122"/>
                <a:cs typeface="Aptos" pitchFamily="34" charset="-120"/>
              </a:rPr>
              <a:t>Image / mirror peak issue</a:t>
            </a:r>
            <a:endParaRPr lang="en-US" sz="1400" dirty="0"/>
          </a:p>
        </p:txBody>
      </p:sp>
      <p:sp>
        <p:nvSpPr>
          <p:cNvPr id="11" name="Text 9"/>
          <p:cNvSpPr/>
          <p:nvPr/>
        </p:nvSpPr>
        <p:spPr>
          <a:xfrm>
            <a:off x="6492240" y="3246120"/>
            <a:ext cx="4983480" cy="1261872"/>
          </a:xfrm>
          <a:prstGeom prst="rect">
            <a:avLst/>
          </a:prstGeom>
          <a:noFill/>
          <a:ln/>
        </p:spPr>
        <p:txBody>
          <a:bodyPr wrap="square" lIns="508" tIns="508" rIns="508" bIns="508" rtlCol="0" anchor="ctr">
            <a:normAutofit/>
          </a:bodyPr>
          <a:lstStyle/>
          <a:p>
            <a:r>
              <a:rPr lang="en-US" sz="1520" dirty="0">
                <a:solidFill>
                  <a:srgbClr val="172033"/>
                </a:solidFill>
                <a:latin typeface="Aptos" pitchFamily="34" charset="0"/>
                <a:ea typeface="Aptos" pitchFamily="34" charset="-122"/>
                <a:cs typeface="Aptos" pitchFamily="34" charset="-120"/>
              </a:rPr>
              <a:t>Phase mismatch, IQ imbalance, and multipath may create image peaks.
</a:t>
            </a:r>
            <a:endParaRPr lang="en-US" sz="1520" dirty="0"/>
          </a:p>
          <a:p>
            <a:r>
              <a:rPr lang="en-US" sz="1520" dirty="0">
                <a:solidFill>
                  <a:srgbClr val="172033"/>
                </a:solidFill>
                <a:latin typeface="Aptos" pitchFamily="34" charset="0"/>
                <a:ea typeface="Aptos" pitchFamily="34" charset="-122"/>
                <a:cs typeface="Aptos" pitchFamily="34" charset="-120"/>
              </a:rPr>
              <a:t>A wrong image peak can move the LCMV null to an incorrect angle.
</a:t>
            </a:r>
            <a:endParaRPr lang="en-US" sz="1520" dirty="0"/>
          </a:p>
          <a:p>
            <a:r>
              <a:rPr lang="en-US" sz="1520" dirty="0">
                <a:solidFill>
                  <a:srgbClr val="172033"/>
                </a:solidFill>
                <a:latin typeface="Aptos" pitchFamily="34" charset="0"/>
                <a:ea typeface="Aptos" pitchFamily="34" charset="-122"/>
                <a:cs typeface="Aptos" pitchFamily="34" charset="-120"/>
              </a:rPr>
              <a:t>Phase calibration is therefore important for null depth.</a:t>
            </a:r>
            <a:endParaRPr lang="en-US" sz="1520" dirty="0"/>
          </a:p>
        </p:txBody>
      </p:sp>
      <p:sp>
        <p:nvSpPr>
          <p:cNvPr id="12" name="Text 10"/>
          <p:cNvSpPr/>
          <p:nvPr/>
        </p:nvSpPr>
        <p:spPr>
          <a:xfrm>
            <a:off x="457200" y="6510528"/>
            <a:ext cx="11247120" cy="164592"/>
          </a:xfrm>
          <a:prstGeom prst="rect">
            <a:avLst/>
          </a:prstGeom>
          <a:noFill/>
          <a:ln/>
        </p:spPr>
        <p:txBody>
          <a:bodyPr wrap="square" lIns="0" tIns="0" rIns="0" bIns="0" rtlCol="0" anchor="ctr">
            <a:normAutofit/>
          </a:bodyPr>
          <a:lstStyle/>
          <a:p>
            <a:pPr marL="0" indent="0" algn="r">
              <a:buNone/>
            </a:pPr>
            <a:r>
              <a:rPr lang="en-US" sz="750" dirty="0">
                <a:solidFill>
                  <a:srgbClr val="94A3B8"/>
                </a:solidFill>
                <a:latin typeface="Aptos" pitchFamily="34" charset="0"/>
                <a:ea typeface="Aptos" pitchFamily="34" charset="-122"/>
                <a:cs typeface="Aptos" pitchFamily="34" charset="-120"/>
              </a:rPr>
              <a:t>EE4084 Kalman and Bayesian Filters • Project Presentation • 9/15</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37744"/>
            <a:ext cx="11247120" cy="420624"/>
          </a:xfrm>
          <a:prstGeom prst="rect">
            <a:avLst/>
          </a:prstGeom>
          <a:noFill/>
          <a:ln/>
        </p:spPr>
        <p:txBody>
          <a:bodyPr wrap="square" lIns="0" tIns="0" rIns="0" bIns="0" rtlCol="0" anchor="ctr">
            <a:normAutofit/>
          </a:bodyPr>
          <a:lstStyle/>
          <a:p>
            <a:pPr marL="0" indent="0">
              <a:buNone/>
            </a:pPr>
            <a:r>
              <a:rPr lang="en-US" sz="2200" b="1" dirty="0">
                <a:solidFill>
                  <a:srgbClr val="172033"/>
                </a:solidFill>
                <a:latin typeface="Aptos Display" pitchFamily="34" charset="0"/>
                <a:ea typeface="Aptos Display" pitchFamily="34" charset="-122"/>
                <a:cs typeface="Aptos Display" pitchFamily="34" charset="-120"/>
              </a:rPr>
              <a:t>Beamforming design: MVDR versus LCMV</a:t>
            </a:r>
            <a:endParaRPr lang="en-US" sz="2200" dirty="0"/>
          </a:p>
        </p:txBody>
      </p:sp>
      <p:sp>
        <p:nvSpPr>
          <p:cNvPr id="3" name="Text 1"/>
          <p:cNvSpPr/>
          <p:nvPr/>
        </p:nvSpPr>
        <p:spPr>
          <a:xfrm>
            <a:off x="457200" y="704088"/>
            <a:ext cx="11247120" cy="237744"/>
          </a:xfrm>
          <a:prstGeom prst="rect">
            <a:avLst/>
          </a:prstGeom>
          <a:noFill/>
          <a:ln/>
        </p:spPr>
        <p:txBody>
          <a:bodyPr wrap="square" lIns="0" tIns="0" rIns="0" bIns="0" rtlCol="0" anchor="ctr">
            <a:normAutofit/>
          </a:bodyPr>
          <a:lstStyle/>
          <a:p>
            <a:pPr marL="0" indent="0">
              <a:buNone/>
            </a:pPr>
            <a:r>
              <a:rPr lang="en-US" sz="1150" dirty="0">
                <a:solidFill>
                  <a:srgbClr val="5D667A"/>
                </a:solidFill>
                <a:latin typeface="Aptos" pitchFamily="34" charset="0"/>
                <a:ea typeface="Aptos" pitchFamily="34" charset="-122"/>
                <a:cs typeface="Aptos" pitchFamily="34" charset="-120"/>
              </a:rPr>
              <a:t>The beamformer uses the filtered DoA differently in no-jammer and jammer-present modes.</a:t>
            </a:r>
            <a:endParaRPr lang="en-US" sz="1150" dirty="0"/>
          </a:p>
        </p:txBody>
      </p:sp>
      <p:sp>
        <p:nvSpPr>
          <p:cNvPr id="4" name="Text 2"/>
          <p:cNvSpPr/>
          <p:nvPr/>
        </p:nvSpPr>
        <p:spPr>
          <a:xfrm>
            <a:off x="594360" y="1024128"/>
            <a:ext cx="5029200" cy="237744"/>
          </a:xfrm>
          <a:prstGeom prst="rect">
            <a:avLst/>
          </a:prstGeom>
          <a:noFill/>
          <a:ln/>
        </p:spPr>
        <p:txBody>
          <a:bodyPr wrap="square" lIns="0" tIns="0" rIns="0" bIns="0" rtlCol="0" anchor="ctr">
            <a:normAutofit/>
          </a:bodyPr>
          <a:lstStyle/>
          <a:p>
            <a:pPr marL="0" indent="0">
              <a:buNone/>
            </a:pPr>
            <a:r>
              <a:rPr lang="en-US" sz="1400" b="1" dirty="0">
                <a:solidFill>
                  <a:srgbClr val="059669"/>
                </a:solidFill>
                <a:latin typeface="Aptos" pitchFamily="34" charset="0"/>
                <a:ea typeface="Aptos" pitchFamily="34" charset="-122"/>
                <a:cs typeface="Aptos" pitchFamily="34" charset="-120"/>
              </a:rPr>
              <a:t>No-jammer mode: MVDR</a:t>
            </a:r>
            <a:endParaRPr lang="en-US" sz="1400" dirty="0"/>
          </a:p>
        </p:txBody>
      </p:sp>
      <p:sp>
        <p:nvSpPr>
          <p:cNvPr id="5" name="Text 3"/>
          <p:cNvSpPr/>
          <p:nvPr/>
        </p:nvSpPr>
        <p:spPr>
          <a:xfrm>
            <a:off x="658368" y="1389888"/>
            <a:ext cx="5257800" cy="1170432"/>
          </a:xfrm>
          <a:prstGeom prst="rect">
            <a:avLst/>
          </a:prstGeom>
          <a:noFill/>
          <a:ln/>
        </p:spPr>
        <p:txBody>
          <a:bodyPr wrap="square" lIns="508" tIns="508" rIns="508" bIns="508" rtlCol="0" anchor="ctr">
            <a:normAutofit/>
          </a:bodyPr>
          <a:lstStyle/>
          <a:p>
            <a:r>
              <a:rPr lang="en-US" sz="1520" dirty="0">
                <a:solidFill>
                  <a:srgbClr val="172033"/>
                </a:solidFill>
                <a:latin typeface="Aptos" pitchFamily="34" charset="0"/>
                <a:ea typeface="Aptos" pitchFamily="34" charset="-122"/>
                <a:cs typeface="Aptos" pitchFamily="34" charset="-120"/>
              </a:rPr>
              <a:t>Dominant MUSIC peak is interpreted as SOI DoA.
</a:t>
            </a:r>
            <a:endParaRPr lang="en-US" sz="1520" dirty="0"/>
          </a:p>
          <a:p>
            <a:r>
              <a:rPr lang="en-US" sz="1520" dirty="0">
                <a:solidFill>
                  <a:srgbClr val="172033"/>
                </a:solidFill>
                <a:latin typeface="Aptos" pitchFamily="34" charset="0"/>
                <a:ea typeface="Aptos" pitchFamily="34" charset="-122"/>
                <a:cs typeface="Aptos" pitchFamily="34" charset="-120"/>
              </a:rPr>
              <a:t>IMM output is used as the steering direction.
</a:t>
            </a:r>
            <a:endParaRPr lang="en-US" sz="1520" dirty="0"/>
          </a:p>
          <a:p>
            <a:r>
              <a:rPr lang="en-US" sz="1520" dirty="0">
                <a:solidFill>
                  <a:srgbClr val="172033"/>
                </a:solidFill>
                <a:latin typeface="Aptos" pitchFamily="34" charset="0"/>
                <a:ea typeface="Aptos" pitchFamily="34" charset="-122"/>
                <a:cs typeface="Aptos" pitchFamily="34" charset="-120"/>
              </a:rPr>
              <a:t>Objective: minimum output power with distortionless SOI response.</a:t>
            </a:r>
            <a:endParaRPr lang="en-US" sz="1520" dirty="0"/>
          </a:p>
        </p:txBody>
      </p:sp>
      <p:sp>
        <p:nvSpPr>
          <p:cNvPr id="6" name="Text 4"/>
          <p:cNvSpPr/>
          <p:nvPr/>
        </p:nvSpPr>
        <p:spPr>
          <a:xfrm>
            <a:off x="658368" y="2816352"/>
            <a:ext cx="5349240" cy="411480"/>
          </a:xfrm>
          <a:prstGeom prst="rect">
            <a:avLst/>
          </a:prstGeom>
          <a:noFill/>
          <a:ln/>
        </p:spPr>
        <p:txBody>
          <a:bodyPr wrap="square" lIns="508" tIns="508" rIns="508" bIns="508" rtlCol="0" anchor="ctr">
            <a:normAutofit/>
          </a:bodyPr>
          <a:lstStyle/>
          <a:p>
            <a:pPr marL="0" indent="0">
              <a:buNone/>
            </a:pPr>
            <a:r>
              <a:rPr lang="en-US" sz="1450" dirty="0">
                <a:solidFill>
                  <a:srgbClr val="172033"/>
                </a:solidFill>
                <a:latin typeface="Cambria Math" pitchFamily="34" charset="0"/>
                <a:ea typeface="Cambria Math" pitchFamily="34" charset="-122"/>
                <a:cs typeface="Cambria Math" pitchFamily="34" charset="-120"/>
              </a:rPr>
              <a:t>wMVDR = R⁻¹a(θs) / [aᴴ(θs)R⁻¹a(θs)]</a:t>
            </a:r>
            <a:endParaRPr lang="en-US" sz="1450" dirty="0"/>
          </a:p>
        </p:txBody>
      </p:sp>
      <p:sp>
        <p:nvSpPr>
          <p:cNvPr id="7" name="Text 5"/>
          <p:cNvSpPr/>
          <p:nvPr/>
        </p:nvSpPr>
        <p:spPr>
          <a:xfrm>
            <a:off x="6263640" y="1024128"/>
            <a:ext cx="5029200" cy="237744"/>
          </a:xfrm>
          <a:prstGeom prst="rect">
            <a:avLst/>
          </a:prstGeom>
          <a:noFill/>
          <a:ln/>
        </p:spPr>
        <p:txBody>
          <a:bodyPr wrap="square" lIns="0" tIns="0" rIns="0" bIns="0" rtlCol="0" anchor="ctr">
            <a:normAutofit/>
          </a:bodyPr>
          <a:lstStyle/>
          <a:p>
            <a:pPr marL="0" indent="0">
              <a:buNone/>
            </a:pPr>
            <a:r>
              <a:rPr lang="en-US" sz="1400" b="1" dirty="0">
                <a:solidFill>
                  <a:srgbClr val="DC2626"/>
                </a:solidFill>
                <a:latin typeface="Aptos" pitchFamily="34" charset="0"/>
                <a:ea typeface="Aptos" pitchFamily="34" charset="-122"/>
                <a:cs typeface="Aptos" pitchFamily="34" charset="-120"/>
              </a:rPr>
              <a:t>Jammer-present mode: LCMV</a:t>
            </a:r>
            <a:endParaRPr lang="en-US" sz="1400" dirty="0"/>
          </a:p>
        </p:txBody>
      </p:sp>
      <p:sp>
        <p:nvSpPr>
          <p:cNvPr id="8" name="Text 6"/>
          <p:cNvSpPr/>
          <p:nvPr/>
        </p:nvSpPr>
        <p:spPr>
          <a:xfrm>
            <a:off x="6327648" y="1389888"/>
            <a:ext cx="5257800" cy="1170432"/>
          </a:xfrm>
          <a:prstGeom prst="rect">
            <a:avLst/>
          </a:prstGeom>
          <a:noFill/>
          <a:ln/>
        </p:spPr>
        <p:txBody>
          <a:bodyPr wrap="square" lIns="508" tIns="508" rIns="508" bIns="508" rtlCol="0" anchor="ctr">
            <a:normAutofit/>
          </a:bodyPr>
          <a:lstStyle/>
          <a:p>
            <a:r>
              <a:rPr lang="en-US" sz="1520" dirty="0">
                <a:solidFill>
                  <a:srgbClr val="172033"/>
                </a:solidFill>
                <a:latin typeface="Aptos" pitchFamily="34" charset="0"/>
                <a:ea typeface="Aptos" pitchFamily="34" charset="-122"/>
                <a:cs typeface="Aptos" pitchFamily="34" charset="-120"/>
              </a:rPr>
              <a:t>Dominant MUSIC peak is interpreted as jammer DoA.
</a:t>
            </a:r>
            <a:endParaRPr lang="en-US" sz="1520" dirty="0"/>
          </a:p>
          <a:p>
            <a:r>
              <a:rPr lang="en-US" sz="1520" dirty="0">
                <a:solidFill>
                  <a:srgbClr val="172033"/>
                </a:solidFill>
                <a:latin typeface="Aptos" pitchFamily="34" charset="0"/>
                <a:ea typeface="Aptos" pitchFamily="34" charset="-122"/>
                <a:cs typeface="Aptos" pitchFamily="34" charset="-120"/>
              </a:rPr>
              <a:t>SOI is fixed at θs = 0° broadside.
</a:t>
            </a:r>
            <a:endParaRPr lang="en-US" sz="1520" dirty="0"/>
          </a:p>
          <a:p>
            <a:r>
              <a:rPr lang="en-US" sz="1520" dirty="0">
                <a:solidFill>
                  <a:srgbClr val="172033"/>
                </a:solidFill>
                <a:latin typeface="Aptos" pitchFamily="34" charset="0"/>
                <a:ea typeface="Aptos" pitchFamily="34" charset="-122"/>
                <a:cs typeface="Aptos" pitchFamily="34" charset="-120"/>
              </a:rPr>
              <a:t>Constraints: unity gain at SOI, zero gain at jammer.</a:t>
            </a:r>
            <a:endParaRPr lang="en-US" sz="1520" dirty="0"/>
          </a:p>
        </p:txBody>
      </p:sp>
      <p:sp>
        <p:nvSpPr>
          <p:cNvPr id="9" name="Text 7"/>
          <p:cNvSpPr/>
          <p:nvPr/>
        </p:nvSpPr>
        <p:spPr>
          <a:xfrm>
            <a:off x="6327648" y="2816352"/>
            <a:ext cx="5166360" cy="320040"/>
          </a:xfrm>
          <a:prstGeom prst="rect">
            <a:avLst/>
          </a:prstGeom>
          <a:noFill/>
          <a:ln/>
        </p:spPr>
        <p:txBody>
          <a:bodyPr wrap="square" lIns="508" tIns="508" rIns="508" bIns="508" rtlCol="0" anchor="ctr">
            <a:normAutofit/>
          </a:bodyPr>
          <a:lstStyle/>
          <a:p>
            <a:pPr marL="0" indent="0">
              <a:buNone/>
            </a:pPr>
            <a:r>
              <a:rPr lang="en-US" sz="1500" dirty="0">
                <a:solidFill>
                  <a:srgbClr val="172033"/>
                </a:solidFill>
                <a:latin typeface="Cambria Math" pitchFamily="34" charset="0"/>
                <a:ea typeface="Cambria Math" pitchFamily="34" charset="-122"/>
                <a:cs typeface="Cambria Math" pitchFamily="34" charset="-120"/>
              </a:rPr>
              <a:t>C = [a(θs)  a(θj)],      f = [1  0]ᵀ</a:t>
            </a:r>
            <a:endParaRPr lang="en-US" sz="1500" dirty="0"/>
          </a:p>
        </p:txBody>
      </p:sp>
      <p:sp>
        <p:nvSpPr>
          <p:cNvPr id="10" name="Text 8"/>
          <p:cNvSpPr/>
          <p:nvPr/>
        </p:nvSpPr>
        <p:spPr>
          <a:xfrm>
            <a:off x="6327648" y="3255264"/>
            <a:ext cx="5166360" cy="347472"/>
          </a:xfrm>
          <a:prstGeom prst="rect">
            <a:avLst/>
          </a:prstGeom>
          <a:noFill/>
          <a:ln/>
        </p:spPr>
        <p:txBody>
          <a:bodyPr wrap="square" lIns="508" tIns="508" rIns="508" bIns="508" rtlCol="0" anchor="ctr">
            <a:normAutofit/>
          </a:bodyPr>
          <a:lstStyle/>
          <a:p>
            <a:pPr marL="0" indent="0">
              <a:buNone/>
            </a:pPr>
            <a:r>
              <a:rPr lang="en-US" sz="1500" dirty="0">
                <a:solidFill>
                  <a:srgbClr val="172033"/>
                </a:solidFill>
                <a:latin typeface="Cambria Math" pitchFamily="34" charset="0"/>
                <a:ea typeface="Cambria Math" pitchFamily="34" charset="-122"/>
                <a:cs typeface="Cambria Math" pitchFamily="34" charset="-120"/>
              </a:rPr>
              <a:t>wLCMV = R⁻¹C(CᴴR⁻¹C)⁻¹f</a:t>
            </a:r>
            <a:endParaRPr lang="en-US" sz="1500" dirty="0"/>
          </a:p>
        </p:txBody>
      </p:sp>
      <p:pic>
        <p:nvPicPr>
          <p:cNvPr id="11" name="Image 0" descr="/mnt/data/jammer_present_meas.png"/>
          <p:cNvPicPr>
            <a:picLocks noChangeAspect="1"/>
          </p:cNvPicPr>
          <p:nvPr/>
        </p:nvPicPr>
        <p:blipFill>
          <a:blip r:embed="rId3"/>
          <a:stretch>
            <a:fillRect/>
          </a:stretch>
        </p:blipFill>
        <p:spPr>
          <a:xfrm>
            <a:off x="4868414" y="3977640"/>
            <a:ext cx="2525276" cy="1783080"/>
          </a:xfrm>
          <a:prstGeom prst="rect">
            <a:avLst/>
          </a:prstGeom>
        </p:spPr>
      </p:pic>
      <p:sp>
        <p:nvSpPr>
          <p:cNvPr id="12" name="Text 9"/>
          <p:cNvSpPr/>
          <p:nvPr/>
        </p:nvSpPr>
        <p:spPr>
          <a:xfrm>
            <a:off x="685800" y="5806440"/>
            <a:ext cx="10881360" cy="320040"/>
          </a:xfrm>
          <a:prstGeom prst="rect">
            <a:avLst/>
          </a:prstGeom>
          <a:noFill/>
          <a:ln/>
        </p:spPr>
        <p:txBody>
          <a:bodyPr wrap="square" lIns="0" tIns="0" rIns="0" bIns="0" rtlCol="0" anchor="ctr">
            <a:normAutofit/>
          </a:bodyPr>
          <a:lstStyle/>
          <a:p>
            <a:pPr marL="0" indent="0">
              <a:buNone/>
            </a:pPr>
            <a:r>
              <a:rPr lang="en-US" sz="1450" b="1" dirty="0">
                <a:solidFill>
                  <a:srgbClr val="172033"/>
                </a:solidFill>
                <a:latin typeface="Aptos" pitchFamily="34" charset="0"/>
                <a:ea typeface="Aptos" pitchFamily="34" charset="-122"/>
                <a:cs typeface="Aptos" pitchFamily="34" charset="-120"/>
              </a:rPr>
              <a:t>Suppression metric = RSSI In − RSSI Out, displayed only during active jammer + LCMV mode.</a:t>
            </a:r>
            <a:endParaRPr lang="en-US" sz="1450" dirty="0"/>
          </a:p>
        </p:txBody>
      </p:sp>
      <p:sp>
        <p:nvSpPr>
          <p:cNvPr id="13" name="Text 10"/>
          <p:cNvSpPr/>
          <p:nvPr/>
        </p:nvSpPr>
        <p:spPr>
          <a:xfrm>
            <a:off x="457200" y="6510528"/>
            <a:ext cx="11247120" cy="164592"/>
          </a:xfrm>
          <a:prstGeom prst="rect">
            <a:avLst/>
          </a:prstGeom>
          <a:noFill/>
          <a:ln/>
        </p:spPr>
        <p:txBody>
          <a:bodyPr wrap="square" lIns="0" tIns="0" rIns="0" bIns="0" rtlCol="0" anchor="ctr">
            <a:normAutofit/>
          </a:bodyPr>
          <a:lstStyle/>
          <a:p>
            <a:pPr marL="0" indent="0" algn="r">
              <a:buNone/>
            </a:pPr>
            <a:r>
              <a:rPr lang="en-US" sz="750" dirty="0">
                <a:solidFill>
                  <a:srgbClr val="94A3B8"/>
                </a:solidFill>
                <a:latin typeface="Aptos" pitchFamily="34" charset="0"/>
                <a:ea typeface="Aptos" pitchFamily="34" charset="-122"/>
                <a:cs typeface="Aptos" pitchFamily="34" charset="-120"/>
              </a:rPr>
              <a:t>EE4084 Kalman and Bayesian Filters • Project Presentation • 10/15</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37744"/>
            <a:ext cx="11247120" cy="420624"/>
          </a:xfrm>
          <a:prstGeom prst="rect">
            <a:avLst/>
          </a:prstGeom>
          <a:noFill/>
          <a:ln/>
        </p:spPr>
        <p:txBody>
          <a:bodyPr wrap="square" lIns="0" tIns="0" rIns="0" bIns="0" rtlCol="0" anchor="ctr">
            <a:normAutofit/>
          </a:bodyPr>
          <a:lstStyle/>
          <a:p>
            <a:pPr marL="0" indent="0">
              <a:buNone/>
            </a:pPr>
            <a:r>
              <a:rPr lang="en-US" sz="2200" b="1" dirty="0">
                <a:solidFill>
                  <a:srgbClr val="172033"/>
                </a:solidFill>
                <a:latin typeface="Aptos Display" pitchFamily="34" charset="0"/>
                <a:ea typeface="Aptos Display" pitchFamily="34" charset="-122"/>
                <a:cs typeface="Aptos Display" pitchFamily="34" charset="-120"/>
              </a:rPr>
              <a:t>Software implementation workflow in the GUI</a:t>
            </a:r>
            <a:endParaRPr lang="en-US" sz="2200" dirty="0"/>
          </a:p>
        </p:txBody>
      </p:sp>
      <p:sp>
        <p:nvSpPr>
          <p:cNvPr id="3" name="Text 1"/>
          <p:cNvSpPr/>
          <p:nvPr/>
        </p:nvSpPr>
        <p:spPr>
          <a:xfrm>
            <a:off x="457200" y="704088"/>
            <a:ext cx="11247120" cy="237744"/>
          </a:xfrm>
          <a:prstGeom prst="rect">
            <a:avLst/>
          </a:prstGeom>
          <a:noFill/>
          <a:ln/>
        </p:spPr>
        <p:txBody>
          <a:bodyPr wrap="square" lIns="0" tIns="0" rIns="0" bIns="0" rtlCol="0" anchor="ctr">
            <a:normAutofit/>
          </a:bodyPr>
          <a:lstStyle/>
          <a:p>
            <a:pPr marL="0" indent="0">
              <a:buNone/>
            </a:pPr>
            <a:r>
              <a:rPr lang="en-US" sz="1150" dirty="0">
                <a:solidFill>
                  <a:srgbClr val="5D667A"/>
                </a:solidFill>
                <a:latin typeface="Aptos" pitchFamily="34" charset="0"/>
                <a:ea typeface="Aptos" pitchFamily="34" charset="-122"/>
                <a:cs typeface="Aptos" pitchFamily="34" charset="-120"/>
              </a:rPr>
              <a:t>The Python application runs SDR acquisition, estimation, filtering, beamforming, and visualization in real time.</a:t>
            </a:r>
            <a:endParaRPr lang="en-US" sz="1150" dirty="0"/>
          </a:p>
        </p:txBody>
      </p:sp>
      <p:sp>
        <p:nvSpPr>
          <p:cNvPr id="4" name="Text 2"/>
          <p:cNvSpPr/>
          <p:nvPr/>
        </p:nvSpPr>
        <p:spPr>
          <a:xfrm>
            <a:off x="594360" y="1024128"/>
            <a:ext cx="5303520" cy="237744"/>
          </a:xfrm>
          <a:prstGeom prst="rect">
            <a:avLst/>
          </a:prstGeom>
          <a:noFill/>
          <a:ln/>
        </p:spPr>
        <p:txBody>
          <a:bodyPr wrap="square" lIns="0" tIns="0" rIns="0" bIns="0" rtlCol="0" anchor="ctr">
            <a:normAutofit/>
          </a:bodyPr>
          <a:lstStyle/>
          <a:p>
            <a:pPr marL="0" indent="0">
              <a:buNone/>
            </a:pPr>
            <a:r>
              <a:rPr lang="en-US" sz="1400" b="1" dirty="0">
                <a:solidFill>
                  <a:srgbClr val="2563EB"/>
                </a:solidFill>
                <a:latin typeface="Aptos" pitchFamily="34" charset="0"/>
                <a:ea typeface="Aptos" pitchFamily="34" charset="-122"/>
                <a:cs typeface="Aptos" pitchFamily="34" charset="-120"/>
              </a:rPr>
              <a:t>Frame-level processing loop</a:t>
            </a:r>
            <a:endParaRPr lang="en-US" sz="1400" dirty="0"/>
          </a:p>
        </p:txBody>
      </p:sp>
      <p:sp>
        <p:nvSpPr>
          <p:cNvPr id="5" name="Text 3"/>
          <p:cNvSpPr/>
          <p:nvPr/>
        </p:nvSpPr>
        <p:spPr>
          <a:xfrm>
            <a:off x="658368" y="1389888"/>
            <a:ext cx="5394960" cy="1828800"/>
          </a:xfrm>
          <a:prstGeom prst="rect">
            <a:avLst/>
          </a:prstGeom>
          <a:noFill/>
          <a:ln/>
        </p:spPr>
        <p:txBody>
          <a:bodyPr wrap="square" lIns="508" tIns="508" rIns="508" bIns="508" rtlCol="0" anchor="ctr">
            <a:normAutofit/>
          </a:bodyPr>
          <a:lstStyle/>
          <a:p>
            <a:r>
              <a:rPr lang="en-US" sz="1480" dirty="0">
                <a:solidFill>
                  <a:srgbClr val="172033"/>
                </a:solidFill>
                <a:latin typeface="Aptos" pitchFamily="34" charset="0"/>
                <a:ea typeface="Aptos" pitchFamily="34" charset="-122"/>
                <a:cs typeface="Aptos" pitchFamily="34" charset="-120"/>
              </a:rPr>
              <a:t>Configure AD9361/PlutoSDR RX and TX channels.
</a:t>
            </a:r>
            <a:endParaRPr lang="en-US" sz="1480" dirty="0"/>
          </a:p>
          <a:p>
            <a:r>
              <a:rPr lang="en-US" sz="1480" dirty="0">
                <a:solidFill>
                  <a:srgbClr val="172033"/>
                </a:solidFill>
                <a:latin typeface="Aptos" pitchFamily="34" charset="0"/>
                <a:ea typeface="Aptos" pitchFamily="34" charset="-122"/>
                <a:cs typeface="Aptos" pitchFamily="34" charset="-120"/>
              </a:rPr>
              <a:t>Generate Tx0 QPSK SOI and optionally Tx1 CW jammer.
</a:t>
            </a:r>
            <a:endParaRPr lang="en-US" sz="1480" dirty="0"/>
          </a:p>
          <a:p>
            <a:r>
              <a:rPr lang="en-US" sz="1480" dirty="0">
                <a:solidFill>
                  <a:srgbClr val="172033"/>
                </a:solidFill>
                <a:latin typeface="Aptos" pitchFamily="34" charset="0"/>
                <a:ea typeface="Aptos" pitchFamily="34" charset="-122"/>
                <a:cs typeface="Aptos" pitchFamily="34" charset="-120"/>
              </a:rPr>
              <a:t>Read two-channel IQ frame from RX0 and RX1.
</a:t>
            </a:r>
            <a:endParaRPr lang="en-US" sz="1480" dirty="0"/>
          </a:p>
          <a:p>
            <a:r>
              <a:rPr lang="en-US" sz="1480" dirty="0">
                <a:solidFill>
                  <a:srgbClr val="172033"/>
                </a:solidFill>
                <a:latin typeface="Aptos" pitchFamily="34" charset="0"/>
                <a:ea typeface="Aptos" pitchFamily="34" charset="-122"/>
                <a:cs typeface="Aptos" pitchFamily="34" charset="-120"/>
              </a:rPr>
              <a:t>Apply fixed Rx1 phase calibration.
</a:t>
            </a:r>
            <a:endParaRPr lang="en-US" sz="1480" dirty="0"/>
          </a:p>
          <a:p>
            <a:r>
              <a:rPr lang="en-US" sz="1480" dirty="0">
                <a:solidFill>
                  <a:srgbClr val="172033"/>
                </a:solidFill>
                <a:latin typeface="Aptos" pitchFamily="34" charset="0"/>
                <a:ea typeface="Aptos" pitchFamily="34" charset="-122"/>
                <a:cs typeface="Aptos" pitchFamily="34" charset="-120"/>
              </a:rPr>
              <a:t>Estimate Rxx and compute MUSIC spectrum.</a:t>
            </a:r>
            <a:endParaRPr lang="en-US" sz="1480" dirty="0"/>
          </a:p>
        </p:txBody>
      </p:sp>
      <p:sp>
        <p:nvSpPr>
          <p:cNvPr id="6" name="Text 4"/>
          <p:cNvSpPr/>
          <p:nvPr/>
        </p:nvSpPr>
        <p:spPr>
          <a:xfrm>
            <a:off x="6355080" y="1082454"/>
            <a:ext cx="5303520" cy="237744"/>
          </a:xfrm>
          <a:prstGeom prst="rect">
            <a:avLst/>
          </a:prstGeom>
          <a:noFill/>
          <a:ln/>
        </p:spPr>
        <p:txBody>
          <a:bodyPr wrap="square" lIns="0" tIns="0" rIns="0" bIns="0" rtlCol="0" anchor="ctr">
            <a:normAutofit/>
          </a:bodyPr>
          <a:lstStyle/>
          <a:p>
            <a:pPr marL="0" indent="0">
              <a:buNone/>
            </a:pPr>
            <a:r>
              <a:rPr lang="en-US" sz="1400" b="1" dirty="0">
                <a:solidFill>
                  <a:srgbClr val="059669"/>
                </a:solidFill>
                <a:latin typeface="Aptos" pitchFamily="34" charset="0"/>
                <a:ea typeface="Aptos" pitchFamily="34" charset="-122"/>
                <a:cs typeface="Aptos" pitchFamily="34" charset="-120"/>
              </a:rPr>
              <a:t>Adaptive decision and output</a:t>
            </a:r>
            <a:endParaRPr lang="en-US" sz="1400" dirty="0"/>
          </a:p>
        </p:txBody>
      </p:sp>
      <p:sp>
        <p:nvSpPr>
          <p:cNvPr id="7" name="Text 5"/>
          <p:cNvSpPr/>
          <p:nvPr/>
        </p:nvSpPr>
        <p:spPr>
          <a:xfrm>
            <a:off x="6355080" y="1325880"/>
            <a:ext cx="5394960" cy="1828800"/>
          </a:xfrm>
          <a:prstGeom prst="rect">
            <a:avLst/>
          </a:prstGeom>
          <a:noFill/>
          <a:ln/>
        </p:spPr>
        <p:txBody>
          <a:bodyPr wrap="square" lIns="508" tIns="508" rIns="508" bIns="508" rtlCol="0" anchor="ctr">
            <a:normAutofit fontScale="92500" lnSpcReduction="10000"/>
          </a:bodyPr>
          <a:lstStyle/>
          <a:p>
            <a:r>
              <a:rPr lang="en-US" sz="1480" dirty="0">
                <a:solidFill>
                  <a:srgbClr val="172033"/>
                </a:solidFill>
                <a:latin typeface="Aptos" pitchFamily="34" charset="0"/>
                <a:ea typeface="Aptos" pitchFamily="34" charset="-122"/>
                <a:cs typeface="Aptos" pitchFamily="34" charset="-120"/>
              </a:rPr>
              <a:t>Find dominant MUSIC peak.
</a:t>
            </a:r>
            <a:endParaRPr lang="en-US" sz="1480" dirty="0"/>
          </a:p>
          <a:p>
            <a:r>
              <a:rPr lang="en-US" sz="1480" dirty="0">
                <a:solidFill>
                  <a:srgbClr val="172033"/>
                </a:solidFill>
                <a:latin typeface="Aptos" pitchFamily="34" charset="0"/>
                <a:ea typeface="Aptos" pitchFamily="34" charset="-122"/>
                <a:cs typeface="Aptos" pitchFamily="34" charset="-120"/>
              </a:rPr>
              <a:t>Select tracking target: SOI or JAMMER.
</a:t>
            </a:r>
            <a:endParaRPr lang="en-US" sz="1480" dirty="0"/>
          </a:p>
          <a:p>
            <a:r>
              <a:rPr lang="en-US" sz="1480" dirty="0">
                <a:solidFill>
                  <a:srgbClr val="172033"/>
                </a:solidFill>
                <a:latin typeface="Aptos" pitchFamily="34" charset="0"/>
                <a:ea typeface="Aptos" pitchFamily="34" charset="-122"/>
                <a:cs typeface="Aptos" pitchFamily="34" charset="-120"/>
              </a:rPr>
              <a:t>Run IMM Kalman update.
</a:t>
            </a:r>
            <a:endParaRPr lang="en-US" sz="1480" dirty="0"/>
          </a:p>
          <a:p>
            <a:r>
              <a:rPr lang="en-US" sz="1480" dirty="0">
                <a:solidFill>
                  <a:srgbClr val="172033"/>
                </a:solidFill>
                <a:latin typeface="Aptos" pitchFamily="34" charset="0"/>
                <a:ea typeface="Aptos" pitchFamily="34" charset="-122"/>
                <a:cs typeface="Aptos" pitchFamily="34" charset="-120"/>
              </a:rPr>
              <a:t>Calculate MVDR or LCMV weights.
</a:t>
            </a:r>
            <a:endParaRPr lang="en-US" sz="1480" dirty="0"/>
          </a:p>
          <a:p>
            <a:r>
              <a:rPr lang="en-US" sz="1480" dirty="0">
                <a:solidFill>
                  <a:srgbClr val="172033"/>
                </a:solidFill>
                <a:latin typeface="Aptos" pitchFamily="34" charset="0"/>
                <a:ea typeface="Aptos" pitchFamily="34" charset="-122"/>
                <a:cs typeface="Aptos" pitchFamily="34" charset="-120"/>
              </a:rPr>
              <a:t>Display DoA, trajectory, RSSI, suppression, and model probabilities.</a:t>
            </a:r>
            <a:endParaRPr lang="en-US" sz="1480" dirty="0"/>
          </a:p>
        </p:txBody>
      </p:sp>
      <p:sp>
        <p:nvSpPr>
          <p:cNvPr id="8" name="Shape 6"/>
          <p:cNvSpPr/>
          <p:nvPr/>
        </p:nvSpPr>
        <p:spPr>
          <a:xfrm>
            <a:off x="777240" y="4069080"/>
            <a:ext cx="10698480" cy="1143000"/>
          </a:xfrm>
          <a:prstGeom prst="roundRect">
            <a:avLst>
              <a:gd name="adj" fmla="val 6400"/>
            </a:avLst>
          </a:prstGeom>
          <a:solidFill>
            <a:srgbClr val="EEF2FF"/>
          </a:solidFill>
          <a:ln w="12700">
            <a:solidFill>
              <a:srgbClr val="C7D2FE"/>
            </a:solidFill>
            <a:prstDash val="solid"/>
          </a:ln>
        </p:spPr>
        <p:txBody>
          <a:bodyPr/>
          <a:p/>
        </p:txBody>
      </p:sp>
      <p:sp>
        <p:nvSpPr>
          <p:cNvPr id="9" name="Text 7"/>
          <p:cNvSpPr/>
          <p:nvPr/>
        </p:nvSpPr>
        <p:spPr>
          <a:xfrm>
            <a:off x="960120" y="4425696"/>
            <a:ext cx="10332720" cy="502920"/>
          </a:xfrm>
          <a:prstGeom prst="rect">
            <a:avLst/>
          </a:prstGeom>
          <a:noFill/>
          <a:ln/>
        </p:spPr>
        <p:txBody>
          <a:bodyPr wrap="square" lIns="0" tIns="0" rIns="0" bIns="0" rtlCol="0" anchor="ctr">
            <a:normAutofit/>
          </a:bodyPr>
          <a:lstStyle/>
          <a:p>
            <a:pPr marL="0" indent="0">
              <a:buNone/>
            </a:pPr>
            <a:r>
              <a:rPr lang="en-US" sz="1620" b="1" dirty="0">
                <a:solidFill>
                  <a:srgbClr val="172033"/>
                </a:solidFill>
                <a:latin typeface="Aptos" pitchFamily="34" charset="0"/>
                <a:ea typeface="Aptos" pitchFamily="34" charset="-122"/>
                <a:cs typeface="Aptos" pitchFamily="34" charset="-120"/>
              </a:rPr>
              <a:t>Live Tx1 ON/OFF switching is handled by restarting cyclic TX buffers inside the SDR worker thread, so the GUI can demonstrate no-jammer → jammer-present behavior during one run.</a:t>
            </a:r>
            <a:endParaRPr lang="en-US" sz="1620" dirty="0"/>
          </a:p>
        </p:txBody>
      </p:sp>
      <p:sp>
        <p:nvSpPr>
          <p:cNvPr id="10" name="Text 8"/>
          <p:cNvSpPr/>
          <p:nvPr/>
        </p:nvSpPr>
        <p:spPr>
          <a:xfrm>
            <a:off x="457200" y="6510528"/>
            <a:ext cx="11247120" cy="164592"/>
          </a:xfrm>
          <a:prstGeom prst="rect">
            <a:avLst/>
          </a:prstGeom>
          <a:noFill/>
          <a:ln/>
        </p:spPr>
        <p:txBody>
          <a:bodyPr wrap="square" lIns="0" tIns="0" rIns="0" bIns="0" rtlCol="0" anchor="ctr">
            <a:normAutofit/>
          </a:bodyPr>
          <a:lstStyle/>
          <a:p>
            <a:pPr marL="0" indent="0" algn="r">
              <a:buNone/>
            </a:pPr>
            <a:r>
              <a:rPr lang="en-US" sz="750" dirty="0">
                <a:solidFill>
                  <a:srgbClr val="94A3B8"/>
                </a:solidFill>
                <a:latin typeface="Aptos" pitchFamily="34" charset="0"/>
                <a:ea typeface="Aptos" pitchFamily="34" charset="-122"/>
                <a:cs typeface="Aptos" pitchFamily="34" charset="-120"/>
              </a:rPr>
              <a:t>EE4084 Kalman and Bayesian Filters • Project Presentation • 11/15</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37744"/>
            <a:ext cx="11247120" cy="420624"/>
          </a:xfrm>
          <a:prstGeom prst="rect">
            <a:avLst/>
          </a:prstGeom>
          <a:noFill/>
          <a:ln/>
        </p:spPr>
        <p:txBody>
          <a:bodyPr wrap="square" lIns="0" tIns="0" rIns="0" bIns="0" rtlCol="0" anchor="ctr">
            <a:normAutofit/>
          </a:bodyPr>
          <a:lstStyle/>
          <a:p>
            <a:pPr marL="0" indent="0">
              <a:buNone/>
            </a:pPr>
            <a:r>
              <a:rPr lang="en-US" sz="2200" b="1" dirty="0">
                <a:solidFill>
                  <a:srgbClr val="172033"/>
                </a:solidFill>
                <a:latin typeface="Aptos Display" pitchFamily="34" charset="0"/>
                <a:ea typeface="Aptos Display" pitchFamily="34" charset="-122"/>
                <a:cs typeface="Aptos Display" pitchFamily="34" charset="-120"/>
              </a:rPr>
              <a:t>Comparative result 1: no-jammer case</a:t>
            </a:r>
            <a:endParaRPr lang="en-US" sz="2200" dirty="0"/>
          </a:p>
        </p:txBody>
      </p:sp>
      <p:sp>
        <p:nvSpPr>
          <p:cNvPr id="3" name="Text 1"/>
          <p:cNvSpPr/>
          <p:nvPr/>
        </p:nvSpPr>
        <p:spPr>
          <a:xfrm>
            <a:off x="457200" y="704088"/>
            <a:ext cx="11247120" cy="237744"/>
          </a:xfrm>
          <a:prstGeom prst="rect">
            <a:avLst/>
          </a:prstGeom>
          <a:noFill/>
          <a:ln/>
        </p:spPr>
        <p:txBody>
          <a:bodyPr wrap="square" lIns="0" tIns="0" rIns="0" bIns="0" rtlCol="0" anchor="ctr">
            <a:normAutofit/>
          </a:bodyPr>
          <a:lstStyle/>
          <a:p>
            <a:pPr marL="0" indent="0">
              <a:buNone/>
            </a:pPr>
            <a:r>
              <a:rPr lang="en-US" sz="1150" dirty="0">
                <a:solidFill>
                  <a:srgbClr val="5D667A"/>
                </a:solidFill>
                <a:latin typeface="Aptos" pitchFamily="34" charset="0"/>
                <a:ea typeface="Aptos" pitchFamily="34" charset="-122"/>
                <a:cs typeface="Aptos" pitchFamily="34" charset="-120"/>
              </a:rPr>
              <a:t>Tx1 is disabled, so MUSIC peak corresponds to SOI and MVDR beamforming is used.</a:t>
            </a:r>
            <a:endParaRPr lang="en-US" sz="1150" dirty="0"/>
          </a:p>
        </p:txBody>
      </p:sp>
      <p:pic>
        <p:nvPicPr>
          <p:cNvPr id="4" name="Image 0" descr="/mnt/data/no_jammer_result.png"/>
          <p:cNvPicPr>
            <a:picLocks noChangeAspect="1"/>
          </p:cNvPicPr>
          <p:nvPr/>
        </p:nvPicPr>
        <p:blipFill>
          <a:blip r:embed="rId3"/>
          <a:stretch>
            <a:fillRect/>
          </a:stretch>
        </p:blipFill>
        <p:spPr>
          <a:xfrm>
            <a:off x="937190" y="1078992"/>
            <a:ext cx="6858140" cy="5074920"/>
          </a:xfrm>
          <a:prstGeom prst="rect">
            <a:avLst/>
          </a:prstGeom>
        </p:spPr>
      </p:pic>
      <p:sp>
        <p:nvSpPr>
          <p:cNvPr id="5" name="Text 2"/>
          <p:cNvSpPr/>
          <p:nvPr/>
        </p:nvSpPr>
        <p:spPr>
          <a:xfrm>
            <a:off x="8686800" y="987552"/>
            <a:ext cx="2926080" cy="237744"/>
          </a:xfrm>
          <a:prstGeom prst="rect">
            <a:avLst/>
          </a:prstGeom>
          <a:noFill/>
          <a:ln/>
        </p:spPr>
        <p:txBody>
          <a:bodyPr wrap="square" lIns="0" tIns="0" rIns="0" bIns="0" rtlCol="0" anchor="ctr">
            <a:normAutofit/>
          </a:bodyPr>
          <a:lstStyle/>
          <a:p>
            <a:pPr marL="0" indent="0">
              <a:buNone/>
            </a:pPr>
            <a:r>
              <a:rPr lang="en-US" sz="1400" b="1" dirty="0">
                <a:solidFill>
                  <a:srgbClr val="059669"/>
                </a:solidFill>
                <a:latin typeface="Aptos" pitchFamily="34" charset="0"/>
                <a:ea typeface="Aptos" pitchFamily="34" charset="-122"/>
                <a:cs typeface="Aptos" pitchFamily="34" charset="-120"/>
              </a:rPr>
              <a:t>Observation</a:t>
            </a:r>
            <a:endParaRPr lang="en-US" sz="1400" dirty="0"/>
          </a:p>
        </p:txBody>
      </p:sp>
      <p:sp>
        <p:nvSpPr>
          <p:cNvPr id="6" name="Text 3"/>
          <p:cNvSpPr/>
          <p:nvPr/>
        </p:nvSpPr>
        <p:spPr>
          <a:xfrm>
            <a:off x="8686800" y="1353312"/>
            <a:ext cx="2971800" cy="2743200"/>
          </a:xfrm>
          <a:prstGeom prst="rect">
            <a:avLst/>
          </a:prstGeom>
          <a:noFill/>
          <a:ln/>
        </p:spPr>
        <p:txBody>
          <a:bodyPr wrap="square" lIns="508" tIns="508" rIns="508" bIns="508" rtlCol="0" anchor="ctr">
            <a:normAutofit/>
          </a:bodyPr>
          <a:lstStyle/>
          <a:p>
            <a:r>
              <a:rPr lang="en-US" sz="1380" dirty="0">
                <a:solidFill>
                  <a:srgbClr val="172033"/>
                </a:solidFill>
                <a:latin typeface="Aptos" pitchFamily="34" charset="0"/>
                <a:ea typeface="Aptos" pitchFamily="34" charset="-122"/>
                <a:cs typeface="Aptos" pitchFamily="34" charset="-120"/>
              </a:rPr>
              <a:t>Dominant MUSIC peak is near the SOI direction.
</a:t>
            </a:r>
            <a:endParaRPr lang="en-US" sz="1380" dirty="0"/>
          </a:p>
          <a:p>
            <a:r>
              <a:rPr lang="en-US" sz="1380" dirty="0">
                <a:solidFill>
                  <a:srgbClr val="172033"/>
                </a:solidFill>
                <a:latin typeface="Aptos" pitchFamily="34" charset="0"/>
                <a:ea typeface="Aptos" pitchFamily="34" charset="-122"/>
                <a:cs typeface="Aptos" pitchFamily="34" charset="-120"/>
              </a:rPr>
              <a:t>Raw MUSIC trajectory fluctuates due to measurement noise.
</a:t>
            </a:r>
            <a:endParaRPr lang="en-US" sz="1380" dirty="0"/>
          </a:p>
          <a:p>
            <a:r>
              <a:rPr lang="en-US" sz="1380" dirty="0">
                <a:solidFill>
                  <a:srgbClr val="172033"/>
                </a:solidFill>
                <a:latin typeface="Aptos" pitchFamily="34" charset="0"/>
                <a:ea typeface="Aptos" pitchFamily="34" charset="-122"/>
                <a:cs typeface="Aptos" pitchFamily="34" charset="-120"/>
              </a:rPr>
              <a:t>IMM Kalman output smooths the angular trajectory.
</a:t>
            </a:r>
            <a:endParaRPr lang="en-US" sz="1380" dirty="0"/>
          </a:p>
          <a:p>
            <a:r>
              <a:rPr lang="en-US" sz="1380" dirty="0">
                <a:solidFill>
                  <a:srgbClr val="172033"/>
                </a:solidFill>
                <a:latin typeface="Aptos" pitchFamily="34" charset="0"/>
                <a:ea typeface="Aptos" pitchFamily="34" charset="-122"/>
                <a:cs typeface="Aptos" pitchFamily="34" charset="-120"/>
              </a:rPr>
              <a:t>Beamformer mode is MVDR because no jammer is active.
</a:t>
            </a:r>
            <a:endParaRPr lang="en-US" sz="1380" dirty="0"/>
          </a:p>
          <a:p>
            <a:r>
              <a:rPr lang="en-US" sz="1380" dirty="0">
                <a:solidFill>
                  <a:srgbClr val="172033"/>
                </a:solidFill>
                <a:latin typeface="Aptos" pitchFamily="34" charset="0"/>
                <a:ea typeface="Aptos" pitchFamily="34" charset="-122"/>
                <a:cs typeface="Aptos" pitchFamily="34" charset="-120"/>
              </a:rPr>
              <a:t>Suppression metric is not displayed in this mode.</a:t>
            </a:r>
            <a:endParaRPr lang="en-US" sz="1380" dirty="0"/>
          </a:p>
        </p:txBody>
      </p:sp>
      <p:sp>
        <p:nvSpPr>
          <p:cNvPr id="7" name="Text 4"/>
          <p:cNvSpPr/>
          <p:nvPr/>
        </p:nvSpPr>
        <p:spPr>
          <a:xfrm>
            <a:off x="8686800" y="4617720"/>
            <a:ext cx="2971800" cy="685800"/>
          </a:xfrm>
          <a:prstGeom prst="rect">
            <a:avLst/>
          </a:prstGeom>
          <a:noFill/>
          <a:ln/>
        </p:spPr>
        <p:txBody>
          <a:bodyPr wrap="square" lIns="0" tIns="0" rIns="0" bIns="0" rtlCol="0" anchor="ctr">
            <a:normAutofit/>
          </a:bodyPr>
          <a:lstStyle/>
          <a:p>
            <a:pPr marL="0" indent="0">
              <a:buNone/>
            </a:pPr>
            <a:r>
              <a:rPr lang="en-US" sz="1350" b="1" dirty="0">
                <a:solidFill>
                  <a:srgbClr val="172033"/>
                </a:solidFill>
                <a:latin typeface="Aptos" pitchFamily="34" charset="0"/>
                <a:ea typeface="Aptos" pitchFamily="34" charset="-122"/>
                <a:cs typeface="Aptos" pitchFamily="34" charset="-120"/>
              </a:rPr>
              <a:t>Purpose of this test: verify SOI tracking and show the benefit of IMM filtering over raw MUSIC DoA.</a:t>
            </a:r>
            <a:endParaRPr lang="en-US" sz="1350" dirty="0"/>
          </a:p>
        </p:txBody>
      </p:sp>
      <p:sp>
        <p:nvSpPr>
          <p:cNvPr id="8" name="Text 5"/>
          <p:cNvSpPr/>
          <p:nvPr/>
        </p:nvSpPr>
        <p:spPr>
          <a:xfrm>
            <a:off x="457200" y="6510528"/>
            <a:ext cx="11247120" cy="164592"/>
          </a:xfrm>
          <a:prstGeom prst="rect">
            <a:avLst/>
          </a:prstGeom>
          <a:noFill/>
          <a:ln/>
        </p:spPr>
        <p:txBody>
          <a:bodyPr wrap="square" lIns="0" tIns="0" rIns="0" bIns="0" rtlCol="0" anchor="ctr">
            <a:normAutofit/>
          </a:bodyPr>
          <a:lstStyle/>
          <a:p>
            <a:pPr marL="0" indent="0" algn="r">
              <a:buNone/>
            </a:pPr>
            <a:r>
              <a:rPr lang="en-US" sz="750" dirty="0">
                <a:solidFill>
                  <a:srgbClr val="94A3B8"/>
                </a:solidFill>
                <a:latin typeface="Aptos" pitchFamily="34" charset="0"/>
                <a:ea typeface="Aptos" pitchFamily="34" charset="-122"/>
                <a:cs typeface="Aptos" pitchFamily="34" charset="-120"/>
              </a:rPr>
              <a:t>EE4084 Kalman and Bayesian Filters • Project Presentation • 12/15</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37744"/>
            <a:ext cx="11247120" cy="420624"/>
          </a:xfrm>
          <a:prstGeom prst="rect">
            <a:avLst/>
          </a:prstGeom>
          <a:noFill/>
          <a:ln/>
        </p:spPr>
        <p:txBody>
          <a:bodyPr wrap="square" lIns="0" tIns="0" rIns="0" bIns="0" rtlCol="0" anchor="ctr">
            <a:normAutofit/>
          </a:bodyPr>
          <a:lstStyle/>
          <a:p>
            <a:pPr marL="0" indent="0">
              <a:buNone/>
            </a:pPr>
            <a:r>
              <a:rPr lang="en-US" sz="2200" b="1" dirty="0">
                <a:solidFill>
                  <a:srgbClr val="172033"/>
                </a:solidFill>
                <a:latin typeface="Aptos Display" pitchFamily="34" charset="0"/>
                <a:ea typeface="Aptos Display" pitchFamily="34" charset="-122"/>
                <a:cs typeface="Aptos Display" pitchFamily="34" charset="-120"/>
              </a:rPr>
              <a:t>Comparative result 2: jammer-present case</a:t>
            </a:r>
            <a:endParaRPr lang="en-US" sz="2200" dirty="0"/>
          </a:p>
        </p:txBody>
      </p:sp>
      <p:sp>
        <p:nvSpPr>
          <p:cNvPr id="3" name="Text 1"/>
          <p:cNvSpPr/>
          <p:nvPr/>
        </p:nvSpPr>
        <p:spPr>
          <a:xfrm>
            <a:off x="457200" y="704088"/>
            <a:ext cx="11247120" cy="237744"/>
          </a:xfrm>
          <a:prstGeom prst="rect">
            <a:avLst/>
          </a:prstGeom>
          <a:noFill/>
          <a:ln/>
        </p:spPr>
        <p:txBody>
          <a:bodyPr wrap="square" lIns="0" tIns="0" rIns="0" bIns="0" rtlCol="0" anchor="ctr">
            <a:normAutofit/>
          </a:bodyPr>
          <a:lstStyle/>
          <a:p>
            <a:pPr marL="0" indent="0">
              <a:buNone/>
            </a:pPr>
            <a:r>
              <a:rPr lang="en-US" sz="1150" dirty="0">
                <a:solidFill>
                  <a:srgbClr val="5D667A"/>
                </a:solidFill>
                <a:latin typeface="Aptos" pitchFamily="34" charset="0"/>
                <a:ea typeface="Aptos" pitchFamily="34" charset="-122"/>
                <a:cs typeface="Aptos" pitchFamily="34" charset="-120"/>
              </a:rPr>
              <a:t>Tx1 is active and stronger, so MUSIC peak corresponds to jammer and LCMV nulling is used.</a:t>
            </a:r>
            <a:endParaRPr lang="en-US" sz="1150" dirty="0"/>
          </a:p>
        </p:txBody>
      </p:sp>
      <p:pic>
        <p:nvPicPr>
          <p:cNvPr id="4" name="Image 0" descr="/mnt/data/jammer_present_result.png"/>
          <p:cNvPicPr>
            <a:picLocks noChangeAspect="1"/>
          </p:cNvPicPr>
          <p:nvPr/>
        </p:nvPicPr>
        <p:blipFill>
          <a:blip r:embed="rId3"/>
          <a:stretch>
            <a:fillRect/>
          </a:stretch>
        </p:blipFill>
        <p:spPr>
          <a:xfrm>
            <a:off x="767926" y="1078992"/>
            <a:ext cx="7196668" cy="5074920"/>
          </a:xfrm>
          <a:prstGeom prst="rect">
            <a:avLst/>
          </a:prstGeom>
        </p:spPr>
      </p:pic>
      <p:sp>
        <p:nvSpPr>
          <p:cNvPr id="5" name="Text 2"/>
          <p:cNvSpPr/>
          <p:nvPr/>
        </p:nvSpPr>
        <p:spPr>
          <a:xfrm>
            <a:off x="8641080" y="987552"/>
            <a:ext cx="2926080" cy="237744"/>
          </a:xfrm>
          <a:prstGeom prst="rect">
            <a:avLst/>
          </a:prstGeom>
          <a:noFill/>
          <a:ln/>
        </p:spPr>
        <p:txBody>
          <a:bodyPr wrap="square" lIns="0" tIns="0" rIns="0" bIns="0" rtlCol="0" anchor="ctr">
            <a:normAutofit/>
          </a:bodyPr>
          <a:lstStyle/>
          <a:p>
            <a:pPr marL="0" indent="0">
              <a:buNone/>
            </a:pPr>
            <a:r>
              <a:rPr lang="en-US" sz="1400" b="1" dirty="0">
                <a:solidFill>
                  <a:srgbClr val="DC2626"/>
                </a:solidFill>
                <a:latin typeface="Aptos" pitchFamily="34" charset="0"/>
                <a:ea typeface="Aptos" pitchFamily="34" charset="-122"/>
                <a:cs typeface="Aptos" pitchFamily="34" charset="-120"/>
              </a:rPr>
              <a:t>Observation</a:t>
            </a:r>
            <a:endParaRPr lang="en-US" sz="1400" dirty="0"/>
          </a:p>
        </p:txBody>
      </p:sp>
      <p:sp>
        <p:nvSpPr>
          <p:cNvPr id="6" name="Text 3"/>
          <p:cNvSpPr/>
          <p:nvPr/>
        </p:nvSpPr>
        <p:spPr>
          <a:xfrm>
            <a:off x="8686800" y="1353312"/>
            <a:ext cx="2971800" cy="2514600"/>
          </a:xfrm>
          <a:prstGeom prst="rect">
            <a:avLst/>
          </a:prstGeom>
          <a:noFill/>
          <a:ln/>
        </p:spPr>
        <p:txBody>
          <a:bodyPr wrap="square" lIns="508" tIns="508" rIns="508" bIns="508" rtlCol="0" anchor="ctr">
            <a:normAutofit/>
          </a:bodyPr>
          <a:lstStyle/>
          <a:p>
            <a:r>
              <a:rPr lang="en-US" sz="1380" dirty="0">
                <a:solidFill>
                  <a:srgbClr val="172033"/>
                </a:solidFill>
                <a:latin typeface="Aptos" pitchFamily="34" charset="0"/>
                <a:ea typeface="Aptos" pitchFamily="34" charset="-122"/>
                <a:cs typeface="Aptos" pitchFamily="34" charset="-120"/>
              </a:rPr>
              <a:t>Dominant MUSIC DoA: −66.50°.
</a:t>
            </a:r>
            <a:endParaRPr lang="en-US" sz="1380" dirty="0"/>
          </a:p>
          <a:p>
            <a:r>
              <a:rPr lang="en-US" sz="1380" dirty="0">
                <a:solidFill>
                  <a:srgbClr val="172033"/>
                </a:solidFill>
                <a:latin typeface="Aptos" pitchFamily="34" charset="0"/>
                <a:ea typeface="Aptos" pitchFamily="34" charset="-122"/>
                <a:cs typeface="Aptos" pitchFamily="34" charset="-120"/>
              </a:rPr>
              <a:t>IMM tracked jammer DoA: −68.42°.
</a:t>
            </a:r>
            <a:endParaRPr lang="en-US" sz="1380" dirty="0"/>
          </a:p>
          <a:p>
            <a:r>
              <a:rPr lang="en-US" sz="1380" dirty="0">
                <a:solidFill>
                  <a:srgbClr val="172033"/>
                </a:solidFill>
                <a:latin typeface="Aptos" pitchFamily="34" charset="0"/>
                <a:ea typeface="Aptos" pitchFamily="34" charset="-122"/>
                <a:cs typeface="Aptos" pitchFamily="34" charset="-120"/>
              </a:rPr>
              <a:t>SOI reference remains fixed at 0° broadside.
</a:t>
            </a:r>
            <a:endParaRPr lang="en-US" sz="1380" dirty="0"/>
          </a:p>
          <a:p>
            <a:r>
              <a:rPr lang="en-US" sz="1380" dirty="0">
                <a:solidFill>
                  <a:srgbClr val="172033"/>
                </a:solidFill>
                <a:latin typeface="Aptos" pitchFamily="34" charset="0"/>
                <a:ea typeface="Aptos" pitchFamily="34" charset="-122"/>
                <a:cs typeface="Aptos" pitchFamily="34" charset="-120"/>
              </a:rPr>
              <a:t>Beamformer mode switches to LCMV.
</a:t>
            </a:r>
            <a:endParaRPr lang="en-US" sz="1380" dirty="0"/>
          </a:p>
          <a:p>
            <a:r>
              <a:rPr lang="en-US" sz="1380" dirty="0">
                <a:solidFill>
                  <a:srgbClr val="172033"/>
                </a:solidFill>
                <a:latin typeface="Aptos" pitchFamily="34" charset="0"/>
                <a:ea typeface="Aptos" pitchFamily="34" charset="-122"/>
                <a:cs typeface="Aptos" pitchFamily="34" charset="-120"/>
              </a:rPr>
              <a:t>LCMV suppresses the tracked jammer direction.</a:t>
            </a:r>
            <a:endParaRPr lang="en-US" sz="1380" dirty="0"/>
          </a:p>
        </p:txBody>
      </p:sp>
      <p:sp>
        <p:nvSpPr>
          <p:cNvPr id="7" name="Text 4"/>
          <p:cNvSpPr/>
          <p:nvPr/>
        </p:nvSpPr>
        <p:spPr>
          <a:xfrm>
            <a:off x="8686800" y="4315968"/>
            <a:ext cx="2971800" cy="749808"/>
          </a:xfrm>
          <a:prstGeom prst="rect">
            <a:avLst/>
          </a:prstGeom>
          <a:noFill/>
          <a:ln/>
        </p:spPr>
        <p:txBody>
          <a:bodyPr wrap="square" lIns="0" tIns="0" rIns="0" bIns="0" rtlCol="0" anchor="ctr">
            <a:normAutofit/>
          </a:bodyPr>
          <a:lstStyle/>
          <a:p>
            <a:pPr marL="0" indent="0">
              <a:buNone/>
            </a:pPr>
            <a:r>
              <a:rPr lang="en-US" sz="1350" b="1" dirty="0">
                <a:solidFill>
                  <a:srgbClr val="172033"/>
                </a:solidFill>
                <a:latin typeface="Aptos" pitchFamily="34" charset="0"/>
                <a:ea typeface="Aptos" pitchFamily="34" charset="-122"/>
                <a:cs typeface="Aptos" pitchFamily="34" charset="-120"/>
              </a:rPr>
              <a:t>Purpose of this test: verify jammer tracking and show that LCMV uses the filtered jammer angle as a nulling constraint.</a:t>
            </a:r>
            <a:endParaRPr lang="en-US" sz="1350" dirty="0"/>
          </a:p>
        </p:txBody>
      </p:sp>
      <p:sp>
        <p:nvSpPr>
          <p:cNvPr id="8" name="Text 5"/>
          <p:cNvSpPr/>
          <p:nvPr/>
        </p:nvSpPr>
        <p:spPr>
          <a:xfrm>
            <a:off x="457200" y="6510528"/>
            <a:ext cx="11247120" cy="164592"/>
          </a:xfrm>
          <a:prstGeom prst="rect">
            <a:avLst/>
          </a:prstGeom>
          <a:noFill/>
          <a:ln/>
        </p:spPr>
        <p:txBody>
          <a:bodyPr wrap="square" lIns="0" tIns="0" rIns="0" bIns="0" rtlCol="0" anchor="ctr">
            <a:normAutofit/>
          </a:bodyPr>
          <a:lstStyle/>
          <a:p>
            <a:pPr marL="0" indent="0" algn="r">
              <a:buNone/>
            </a:pPr>
            <a:r>
              <a:rPr lang="en-US" sz="750" dirty="0">
                <a:solidFill>
                  <a:srgbClr val="94A3B8"/>
                </a:solidFill>
                <a:latin typeface="Aptos" pitchFamily="34" charset="0"/>
                <a:ea typeface="Aptos" pitchFamily="34" charset="-122"/>
                <a:cs typeface="Aptos" pitchFamily="34" charset="-120"/>
              </a:rPr>
              <a:t>EE4084 Kalman and Bayesian Filters • Project Presentation • 13/15</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37744"/>
            <a:ext cx="11247120" cy="420624"/>
          </a:xfrm>
          <a:prstGeom prst="rect">
            <a:avLst/>
          </a:prstGeom>
          <a:noFill/>
          <a:ln/>
        </p:spPr>
        <p:txBody>
          <a:bodyPr wrap="square" lIns="0" tIns="0" rIns="0" bIns="0" rtlCol="0" anchor="ctr">
            <a:normAutofit/>
          </a:bodyPr>
          <a:lstStyle/>
          <a:p>
            <a:pPr marL="0" indent="0">
              <a:buNone/>
            </a:pPr>
            <a:r>
              <a:rPr lang="en-US" sz="2200" b="1" dirty="0">
                <a:solidFill>
                  <a:srgbClr val="172033"/>
                </a:solidFill>
                <a:latin typeface="Aptos Display" pitchFamily="34" charset="0"/>
                <a:ea typeface="Aptos Display" pitchFamily="34" charset="-122"/>
                <a:cs typeface="Aptos Display" pitchFamily="34" charset="-120"/>
              </a:rPr>
              <a:t>Measured jammer-present snapshot and comparison</a:t>
            </a:r>
            <a:endParaRPr lang="en-US" sz="2200" dirty="0"/>
          </a:p>
        </p:txBody>
      </p:sp>
      <p:sp>
        <p:nvSpPr>
          <p:cNvPr id="3" name="Text 1"/>
          <p:cNvSpPr/>
          <p:nvPr/>
        </p:nvSpPr>
        <p:spPr>
          <a:xfrm>
            <a:off x="457200" y="704088"/>
            <a:ext cx="11247120" cy="237744"/>
          </a:xfrm>
          <a:prstGeom prst="rect">
            <a:avLst/>
          </a:prstGeom>
          <a:noFill/>
          <a:ln/>
        </p:spPr>
        <p:txBody>
          <a:bodyPr wrap="square" lIns="0" tIns="0" rIns="0" bIns="0" rtlCol="0" anchor="ctr">
            <a:normAutofit/>
          </a:bodyPr>
          <a:lstStyle/>
          <a:p>
            <a:pPr marL="0" indent="0">
              <a:buNone/>
            </a:pPr>
            <a:r>
              <a:rPr lang="en-US" sz="1150" dirty="0">
                <a:solidFill>
                  <a:srgbClr val="5D667A"/>
                </a:solidFill>
                <a:latin typeface="Aptos" pitchFamily="34" charset="0"/>
                <a:ea typeface="Aptos" pitchFamily="34" charset="-122"/>
                <a:cs typeface="Aptos" pitchFamily="34" charset="-120"/>
              </a:rPr>
              <a:t>The measurement panel confirms the operating mode, DoA values, RSSI values, and suppression metric.</a:t>
            </a:r>
            <a:endParaRPr lang="en-US" sz="1150" dirty="0"/>
          </a:p>
        </p:txBody>
      </p:sp>
      <p:pic>
        <p:nvPicPr>
          <p:cNvPr id="4" name="Image 0" descr="/mnt/data/jammer_present_meas.png"/>
          <p:cNvPicPr>
            <a:picLocks noChangeAspect="1"/>
          </p:cNvPicPr>
          <p:nvPr/>
        </p:nvPicPr>
        <p:blipFill>
          <a:blip r:embed="rId3"/>
          <a:stretch>
            <a:fillRect/>
          </a:stretch>
        </p:blipFill>
        <p:spPr>
          <a:xfrm>
            <a:off x="594360" y="2055597"/>
            <a:ext cx="4343400" cy="3066845"/>
          </a:xfrm>
          <a:prstGeom prst="rect">
            <a:avLst/>
          </a:prstGeom>
        </p:spPr>
      </p:pic>
      <p:sp>
        <p:nvSpPr>
          <p:cNvPr id="5" name="Text 2"/>
          <p:cNvSpPr/>
          <p:nvPr/>
        </p:nvSpPr>
        <p:spPr>
          <a:xfrm>
            <a:off x="5349240" y="960120"/>
            <a:ext cx="3657600" cy="237744"/>
          </a:xfrm>
          <a:prstGeom prst="rect">
            <a:avLst/>
          </a:prstGeom>
          <a:noFill/>
          <a:ln/>
        </p:spPr>
        <p:txBody>
          <a:bodyPr wrap="square" lIns="0" tIns="0" rIns="0" bIns="0" rtlCol="0" anchor="ctr">
            <a:normAutofit/>
          </a:bodyPr>
          <a:lstStyle/>
          <a:p>
            <a:pPr marL="0" indent="0">
              <a:buNone/>
            </a:pPr>
            <a:r>
              <a:rPr lang="en-US" sz="1020" b="1" dirty="0">
                <a:solidFill>
                  <a:srgbClr val="DC2626"/>
                </a:solidFill>
                <a:latin typeface="Aptos" pitchFamily="34" charset="0"/>
                <a:ea typeface="Aptos" pitchFamily="34" charset="-122"/>
                <a:cs typeface="Aptos" pitchFamily="34" charset="-120"/>
              </a:rPr>
              <a:t>Measured values</a:t>
            </a:r>
            <a:endParaRPr lang="en-US" sz="1020" dirty="0"/>
          </a:p>
        </p:txBody>
      </p:sp>
      <p:sp>
        <p:nvSpPr>
          <p:cNvPr id="6" name="Shape 3"/>
          <p:cNvSpPr/>
          <p:nvPr/>
        </p:nvSpPr>
        <p:spPr>
          <a:xfrm>
            <a:off x="5349240" y="1325880"/>
            <a:ext cx="6172200" cy="347472"/>
          </a:xfrm>
          <a:prstGeom prst="rect">
            <a:avLst/>
          </a:prstGeom>
          <a:solidFill>
            <a:srgbClr val="FFFFFF"/>
          </a:solidFill>
          <a:ln w="6350">
            <a:solidFill>
              <a:srgbClr val="CBD5E1"/>
            </a:solidFill>
            <a:prstDash val="solid"/>
          </a:ln>
        </p:spPr>
        <p:txBody>
          <a:bodyPr/>
          <a:p/>
        </p:txBody>
      </p:sp>
      <p:sp>
        <p:nvSpPr>
          <p:cNvPr id="7" name="Text 4"/>
          <p:cNvSpPr/>
          <p:nvPr/>
        </p:nvSpPr>
        <p:spPr>
          <a:xfrm>
            <a:off x="5486400" y="1389888"/>
            <a:ext cx="3474720" cy="164592"/>
          </a:xfrm>
          <a:prstGeom prst="rect">
            <a:avLst/>
          </a:prstGeom>
          <a:noFill/>
          <a:ln/>
        </p:spPr>
        <p:txBody>
          <a:bodyPr wrap="square" lIns="0" tIns="0" rIns="0" bIns="0" rtlCol="0" anchor="ctr"/>
          <a:lstStyle/>
          <a:p>
            <a:pPr marL="0" indent="0">
              <a:buNone/>
            </a:pPr>
            <a:r>
              <a:rPr lang="en-US" sz="1200" dirty="0">
                <a:solidFill>
                  <a:srgbClr val="172033"/>
                </a:solidFill>
                <a:latin typeface="Aptos" pitchFamily="34" charset="0"/>
                <a:ea typeface="Aptos" pitchFamily="34" charset="-122"/>
                <a:cs typeface="Aptos" pitchFamily="34" charset="-120"/>
              </a:rPr>
              <a:t>Dominant MUSIC DoA</a:t>
            </a:r>
            <a:endParaRPr lang="en-US" sz="1200" dirty="0"/>
          </a:p>
        </p:txBody>
      </p:sp>
      <p:sp>
        <p:nvSpPr>
          <p:cNvPr id="8" name="Text 5"/>
          <p:cNvSpPr/>
          <p:nvPr/>
        </p:nvSpPr>
        <p:spPr>
          <a:xfrm>
            <a:off x="9235440" y="1389888"/>
            <a:ext cx="2011680" cy="164592"/>
          </a:xfrm>
          <a:prstGeom prst="rect">
            <a:avLst/>
          </a:prstGeom>
          <a:noFill/>
          <a:ln/>
        </p:spPr>
        <p:txBody>
          <a:bodyPr wrap="square" lIns="0" tIns="0" rIns="0" bIns="0" rtlCol="0" anchor="ctr"/>
          <a:lstStyle/>
          <a:p>
            <a:pPr marL="0" indent="0" algn="r">
              <a:buNone/>
            </a:pPr>
            <a:r>
              <a:rPr lang="en-US" sz="1200" b="1" dirty="0">
                <a:solidFill>
                  <a:srgbClr val="172033"/>
                </a:solidFill>
                <a:latin typeface="Aptos" pitchFamily="34" charset="0"/>
                <a:ea typeface="Aptos" pitchFamily="34" charset="-122"/>
                <a:cs typeface="Aptos" pitchFamily="34" charset="-120"/>
              </a:rPr>
              <a:t>−66.50°</a:t>
            </a:r>
            <a:endParaRPr lang="en-US" sz="1200" dirty="0"/>
          </a:p>
        </p:txBody>
      </p:sp>
      <p:sp>
        <p:nvSpPr>
          <p:cNvPr id="9" name="Shape 6"/>
          <p:cNvSpPr/>
          <p:nvPr/>
        </p:nvSpPr>
        <p:spPr>
          <a:xfrm>
            <a:off x="5349240" y="1709928"/>
            <a:ext cx="6172200" cy="347472"/>
          </a:xfrm>
          <a:prstGeom prst="rect">
            <a:avLst/>
          </a:prstGeom>
          <a:solidFill>
            <a:srgbClr val="F1F5F9"/>
          </a:solidFill>
          <a:ln w="6350">
            <a:solidFill>
              <a:srgbClr val="CBD5E1"/>
            </a:solidFill>
            <a:prstDash val="solid"/>
          </a:ln>
        </p:spPr>
        <p:txBody>
          <a:bodyPr/>
          <a:p/>
        </p:txBody>
      </p:sp>
      <p:sp>
        <p:nvSpPr>
          <p:cNvPr id="10" name="Text 7"/>
          <p:cNvSpPr/>
          <p:nvPr/>
        </p:nvSpPr>
        <p:spPr>
          <a:xfrm>
            <a:off x="5486400" y="1773936"/>
            <a:ext cx="3474720" cy="164592"/>
          </a:xfrm>
          <a:prstGeom prst="rect">
            <a:avLst/>
          </a:prstGeom>
          <a:noFill/>
          <a:ln/>
        </p:spPr>
        <p:txBody>
          <a:bodyPr wrap="square" lIns="0" tIns="0" rIns="0" bIns="0" rtlCol="0" anchor="ctr"/>
          <a:lstStyle/>
          <a:p>
            <a:pPr marL="0" indent="0">
              <a:buNone/>
            </a:pPr>
            <a:r>
              <a:rPr lang="en-US" sz="1200" dirty="0">
                <a:solidFill>
                  <a:srgbClr val="172033"/>
                </a:solidFill>
                <a:latin typeface="Aptos" pitchFamily="34" charset="0"/>
                <a:ea typeface="Aptos" pitchFamily="34" charset="-122"/>
                <a:cs typeface="Aptos" pitchFamily="34" charset="-120"/>
              </a:rPr>
              <a:t>IMM jammer DoA</a:t>
            </a:r>
            <a:endParaRPr lang="en-US" sz="1200" dirty="0"/>
          </a:p>
        </p:txBody>
      </p:sp>
      <p:sp>
        <p:nvSpPr>
          <p:cNvPr id="11" name="Text 8"/>
          <p:cNvSpPr/>
          <p:nvPr/>
        </p:nvSpPr>
        <p:spPr>
          <a:xfrm>
            <a:off x="9235440" y="1773936"/>
            <a:ext cx="2011680" cy="164592"/>
          </a:xfrm>
          <a:prstGeom prst="rect">
            <a:avLst/>
          </a:prstGeom>
          <a:noFill/>
          <a:ln/>
        </p:spPr>
        <p:txBody>
          <a:bodyPr wrap="square" lIns="0" tIns="0" rIns="0" bIns="0" rtlCol="0" anchor="ctr"/>
          <a:lstStyle/>
          <a:p>
            <a:pPr marL="0" indent="0" algn="r">
              <a:buNone/>
            </a:pPr>
            <a:r>
              <a:rPr lang="en-US" sz="1200" b="1" dirty="0">
                <a:solidFill>
                  <a:srgbClr val="172033"/>
                </a:solidFill>
                <a:latin typeface="Aptos" pitchFamily="34" charset="0"/>
                <a:ea typeface="Aptos" pitchFamily="34" charset="-122"/>
                <a:cs typeface="Aptos" pitchFamily="34" charset="-120"/>
              </a:rPr>
              <a:t>−68.42°</a:t>
            </a:r>
            <a:endParaRPr lang="en-US" sz="1200" dirty="0"/>
          </a:p>
        </p:txBody>
      </p:sp>
      <p:sp>
        <p:nvSpPr>
          <p:cNvPr id="12" name="Shape 9"/>
          <p:cNvSpPr/>
          <p:nvPr/>
        </p:nvSpPr>
        <p:spPr>
          <a:xfrm>
            <a:off x="5349240" y="2093976"/>
            <a:ext cx="6172200" cy="347472"/>
          </a:xfrm>
          <a:prstGeom prst="rect">
            <a:avLst/>
          </a:prstGeom>
          <a:solidFill>
            <a:srgbClr val="FFFFFF"/>
          </a:solidFill>
          <a:ln w="6350">
            <a:solidFill>
              <a:srgbClr val="CBD5E1"/>
            </a:solidFill>
            <a:prstDash val="solid"/>
          </a:ln>
        </p:spPr>
        <p:txBody>
          <a:bodyPr/>
          <a:p/>
        </p:txBody>
      </p:sp>
      <p:sp>
        <p:nvSpPr>
          <p:cNvPr id="13" name="Text 10"/>
          <p:cNvSpPr/>
          <p:nvPr/>
        </p:nvSpPr>
        <p:spPr>
          <a:xfrm>
            <a:off x="5486400" y="2157984"/>
            <a:ext cx="3474720" cy="164592"/>
          </a:xfrm>
          <a:prstGeom prst="rect">
            <a:avLst/>
          </a:prstGeom>
          <a:noFill/>
          <a:ln/>
        </p:spPr>
        <p:txBody>
          <a:bodyPr wrap="square" lIns="0" tIns="0" rIns="0" bIns="0" rtlCol="0" anchor="ctr"/>
          <a:lstStyle/>
          <a:p>
            <a:pPr marL="0" indent="0">
              <a:buNone/>
            </a:pPr>
            <a:r>
              <a:rPr lang="en-US" sz="1200" dirty="0">
                <a:solidFill>
                  <a:srgbClr val="172033"/>
                </a:solidFill>
                <a:latin typeface="Aptos" pitchFamily="34" charset="0"/>
                <a:ea typeface="Aptos" pitchFamily="34" charset="-122"/>
                <a:cs typeface="Aptos" pitchFamily="34" charset="-120"/>
              </a:rPr>
              <a:t>SOI reference</a:t>
            </a:r>
            <a:endParaRPr lang="en-US" sz="1200" dirty="0"/>
          </a:p>
        </p:txBody>
      </p:sp>
      <p:sp>
        <p:nvSpPr>
          <p:cNvPr id="14" name="Text 11"/>
          <p:cNvSpPr/>
          <p:nvPr/>
        </p:nvSpPr>
        <p:spPr>
          <a:xfrm>
            <a:off x="9235440" y="2157984"/>
            <a:ext cx="2011680" cy="164592"/>
          </a:xfrm>
          <a:prstGeom prst="rect">
            <a:avLst/>
          </a:prstGeom>
          <a:noFill/>
          <a:ln/>
        </p:spPr>
        <p:txBody>
          <a:bodyPr wrap="square" lIns="0" tIns="0" rIns="0" bIns="0" rtlCol="0" anchor="ctr"/>
          <a:lstStyle/>
          <a:p>
            <a:pPr marL="0" indent="0" algn="r">
              <a:buNone/>
            </a:pPr>
            <a:r>
              <a:rPr lang="en-US" sz="1200" b="1" dirty="0">
                <a:solidFill>
                  <a:srgbClr val="172033"/>
                </a:solidFill>
                <a:latin typeface="Aptos" pitchFamily="34" charset="0"/>
                <a:ea typeface="Aptos" pitchFamily="34" charset="-122"/>
                <a:cs typeface="Aptos" pitchFamily="34" charset="-120"/>
              </a:rPr>
              <a:t>0.00° fixed</a:t>
            </a:r>
            <a:endParaRPr lang="en-US" sz="1200" dirty="0"/>
          </a:p>
        </p:txBody>
      </p:sp>
      <p:sp>
        <p:nvSpPr>
          <p:cNvPr id="15" name="Shape 12"/>
          <p:cNvSpPr/>
          <p:nvPr/>
        </p:nvSpPr>
        <p:spPr>
          <a:xfrm>
            <a:off x="5349240" y="2478024"/>
            <a:ext cx="6172200" cy="347472"/>
          </a:xfrm>
          <a:prstGeom prst="rect">
            <a:avLst/>
          </a:prstGeom>
          <a:solidFill>
            <a:srgbClr val="F1F5F9"/>
          </a:solidFill>
          <a:ln w="6350">
            <a:solidFill>
              <a:srgbClr val="CBD5E1"/>
            </a:solidFill>
            <a:prstDash val="solid"/>
          </a:ln>
        </p:spPr>
        <p:txBody>
          <a:bodyPr/>
          <a:p/>
        </p:txBody>
      </p:sp>
      <p:sp>
        <p:nvSpPr>
          <p:cNvPr id="16" name="Text 13"/>
          <p:cNvSpPr/>
          <p:nvPr/>
        </p:nvSpPr>
        <p:spPr>
          <a:xfrm>
            <a:off x="5486400" y="2542032"/>
            <a:ext cx="3474720" cy="164592"/>
          </a:xfrm>
          <a:prstGeom prst="rect">
            <a:avLst/>
          </a:prstGeom>
          <a:noFill/>
          <a:ln/>
        </p:spPr>
        <p:txBody>
          <a:bodyPr wrap="square" lIns="0" tIns="0" rIns="0" bIns="0" rtlCol="0" anchor="ctr"/>
          <a:lstStyle/>
          <a:p>
            <a:pPr marL="0" indent="0">
              <a:buNone/>
            </a:pPr>
            <a:r>
              <a:rPr lang="en-US" sz="1200" dirty="0">
                <a:solidFill>
                  <a:srgbClr val="172033"/>
                </a:solidFill>
                <a:latin typeface="Aptos" pitchFamily="34" charset="0"/>
                <a:ea typeface="Aptos" pitchFamily="34" charset="-122"/>
                <a:cs typeface="Aptos" pitchFamily="34" charset="-120"/>
              </a:rPr>
              <a:t>Beamformer</a:t>
            </a:r>
            <a:endParaRPr lang="en-US" sz="1200" dirty="0"/>
          </a:p>
        </p:txBody>
      </p:sp>
      <p:sp>
        <p:nvSpPr>
          <p:cNvPr id="17" name="Text 14"/>
          <p:cNvSpPr/>
          <p:nvPr/>
        </p:nvSpPr>
        <p:spPr>
          <a:xfrm>
            <a:off x="9235440" y="2542032"/>
            <a:ext cx="2011680" cy="164592"/>
          </a:xfrm>
          <a:prstGeom prst="rect">
            <a:avLst/>
          </a:prstGeom>
          <a:noFill/>
          <a:ln/>
        </p:spPr>
        <p:txBody>
          <a:bodyPr wrap="square" lIns="0" tIns="0" rIns="0" bIns="0" rtlCol="0" anchor="ctr"/>
          <a:lstStyle/>
          <a:p>
            <a:pPr marL="0" indent="0" algn="r">
              <a:buNone/>
            </a:pPr>
            <a:r>
              <a:rPr lang="en-US" sz="1200" b="1" dirty="0">
                <a:solidFill>
                  <a:srgbClr val="172033"/>
                </a:solidFill>
                <a:latin typeface="Aptos" pitchFamily="34" charset="0"/>
                <a:ea typeface="Aptos" pitchFamily="34" charset="-122"/>
                <a:cs typeface="Aptos" pitchFamily="34" charset="-120"/>
              </a:rPr>
              <a:t>LCMV</a:t>
            </a:r>
            <a:endParaRPr lang="en-US" sz="1200" dirty="0"/>
          </a:p>
        </p:txBody>
      </p:sp>
      <p:sp>
        <p:nvSpPr>
          <p:cNvPr id="18" name="Shape 15"/>
          <p:cNvSpPr/>
          <p:nvPr/>
        </p:nvSpPr>
        <p:spPr>
          <a:xfrm>
            <a:off x="5349240" y="2862072"/>
            <a:ext cx="6172200" cy="347472"/>
          </a:xfrm>
          <a:prstGeom prst="rect">
            <a:avLst/>
          </a:prstGeom>
          <a:solidFill>
            <a:srgbClr val="FFFFFF"/>
          </a:solidFill>
          <a:ln w="6350">
            <a:solidFill>
              <a:srgbClr val="CBD5E1"/>
            </a:solidFill>
            <a:prstDash val="solid"/>
          </a:ln>
        </p:spPr>
        <p:txBody>
          <a:bodyPr/>
          <a:p/>
        </p:txBody>
      </p:sp>
      <p:sp>
        <p:nvSpPr>
          <p:cNvPr id="19" name="Text 16"/>
          <p:cNvSpPr/>
          <p:nvPr/>
        </p:nvSpPr>
        <p:spPr>
          <a:xfrm>
            <a:off x="5486400" y="2926080"/>
            <a:ext cx="3474720" cy="164592"/>
          </a:xfrm>
          <a:prstGeom prst="rect">
            <a:avLst/>
          </a:prstGeom>
          <a:noFill/>
          <a:ln/>
        </p:spPr>
        <p:txBody>
          <a:bodyPr wrap="square" lIns="0" tIns="0" rIns="0" bIns="0" rtlCol="0" anchor="ctr"/>
          <a:lstStyle/>
          <a:p>
            <a:pPr marL="0" indent="0">
              <a:buNone/>
            </a:pPr>
            <a:r>
              <a:rPr lang="en-US" sz="1200" dirty="0">
                <a:solidFill>
                  <a:srgbClr val="172033"/>
                </a:solidFill>
                <a:latin typeface="Aptos" pitchFamily="34" charset="0"/>
                <a:ea typeface="Aptos" pitchFamily="34" charset="-122"/>
                <a:cs typeface="Aptos" pitchFamily="34" charset="-120"/>
              </a:rPr>
              <a:t>RSSI In</a:t>
            </a:r>
            <a:endParaRPr lang="en-US" sz="1200" dirty="0"/>
          </a:p>
        </p:txBody>
      </p:sp>
      <p:sp>
        <p:nvSpPr>
          <p:cNvPr id="20" name="Text 17"/>
          <p:cNvSpPr/>
          <p:nvPr/>
        </p:nvSpPr>
        <p:spPr>
          <a:xfrm>
            <a:off x="9235440" y="2926080"/>
            <a:ext cx="2011680" cy="164592"/>
          </a:xfrm>
          <a:prstGeom prst="rect">
            <a:avLst/>
          </a:prstGeom>
          <a:noFill/>
          <a:ln/>
        </p:spPr>
        <p:txBody>
          <a:bodyPr wrap="square" lIns="0" tIns="0" rIns="0" bIns="0" rtlCol="0" anchor="ctr"/>
          <a:lstStyle/>
          <a:p>
            <a:pPr marL="0" indent="0" algn="r">
              <a:buNone/>
            </a:pPr>
            <a:r>
              <a:rPr lang="en-US" sz="1200" b="1" dirty="0">
                <a:solidFill>
                  <a:srgbClr val="172033"/>
                </a:solidFill>
                <a:latin typeface="Aptos" pitchFamily="34" charset="0"/>
                <a:ea typeface="Aptos" pitchFamily="34" charset="-122"/>
                <a:cs typeface="Aptos" pitchFamily="34" charset="-120"/>
              </a:rPr>
              <a:t>−88.73 dBm</a:t>
            </a:r>
            <a:endParaRPr lang="en-US" sz="1200" dirty="0"/>
          </a:p>
        </p:txBody>
      </p:sp>
      <p:sp>
        <p:nvSpPr>
          <p:cNvPr id="21" name="Shape 18"/>
          <p:cNvSpPr/>
          <p:nvPr/>
        </p:nvSpPr>
        <p:spPr>
          <a:xfrm>
            <a:off x="5349240" y="3246120"/>
            <a:ext cx="6172200" cy="347472"/>
          </a:xfrm>
          <a:prstGeom prst="rect">
            <a:avLst/>
          </a:prstGeom>
          <a:solidFill>
            <a:srgbClr val="F1F5F9"/>
          </a:solidFill>
          <a:ln w="6350">
            <a:solidFill>
              <a:srgbClr val="CBD5E1"/>
            </a:solidFill>
            <a:prstDash val="solid"/>
          </a:ln>
        </p:spPr>
        <p:txBody>
          <a:bodyPr/>
          <a:p/>
        </p:txBody>
      </p:sp>
      <p:sp>
        <p:nvSpPr>
          <p:cNvPr id="22" name="Text 19"/>
          <p:cNvSpPr/>
          <p:nvPr/>
        </p:nvSpPr>
        <p:spPr>
          <a:xfrm>
            <a:off x="5486400" y="3310128"/>
            <a:ext cx="3474720" cy="164592"/>
          </a:xfrm>
          <a:prstGeom prst="rect">
            <a:avLst/>
          </a:prstGeom>
          <a:noFill/>
          <a:ln/>
        </p:spPr>
        <p:txBody>
          <a:bodyPr wrap="square" lIns="0" tIns="0" rIns="0" bIns="0" rtlCol="0" anchor="ctr"/>
          <a:lstStyle/>
          <a:p>
            <a:pPr marL="0" indent="0">
              <a:buNone/>
            </a:pPr>
            <a:r>
              <a:rPr lang="en-US" sz="1200" dirty="0">
                <a:solidFill>
                  <a:srgbClr val="172033"/>
                </a:solidFill>
                <a:latin typeface="Aptos" pitchFamily="34" charset="0"/>
                <a:ea typeface="Aptos" pitchFamily="34" charset="-122"/>
                <a:cs typeface="Aptos" pitchFamily="34" charset="-120"/>
              </a:rPr>
              <a:t>RSSI Out</a:t>
            </a:r>
            <a:endParaRPr lang="en-US" sz="1200" dirty="0"/>
          </a:p>
        </p:txBody>
      </p:sp>
      <p:sp>
        <p:nvSpPr>
          <p:cNvPr id="23" name="Text 20"/>
          <p:cNvSpPr/>
          <p:nvPr/>
        </p:nvSpPr>
        <p:spPr>
          <a:xfrm>
            <a:off x="9235440" y="3310128"/>
            <a:ext cx="2011680" cy="164592"/>
          </a:xfrm>
          <a:prstGeom prst="rect">
            <a:avLst/>
          </a:prstGeom>
          <a:noFill/>
          <a:ln/>
        </p:spPr>
        <p:txBody>
          <a:bodyPr wrap="square" lIns="0" tIns="0" rIns="0" bIns="0" rtlCol="0" anchor="ctr"/>
          <a:lstStyle/>
          <a:p>
            <a:pPr marL="0" indent="0" algn="r">
              <a:buNone/>
            </a:pPr>
            <a:r>
              <a:rPr lang="en-US" sz="1200" b="1" dirty="0">
                <a:solidFill>
                  <a:srgbClr val="172033"/>
                </a:solidFill>
                <a:latin typeface="Aptos" pitchFamily="34" charset="0"/>
                <a:ea typeface="Aptos" pitchFamily="34" charset="-122"/>
                <a:cs typeface="Aptos" pitchFamily="34" charset="-120"/>
              </a:rPr>
              <a:t>−106.10 dBm</a:t>
            </a:r>
            <a:endParaRPr lang="en-US" sz="1200" dirty="0"/>
          </a:p>
        </p:txBody>
      </p:sp>
      <p:sp>
        <p:nvSpPr>
          <p:cNvPr id="24" name="Shape 21"/>
          <p:cNvSpPr/>
          <p:nvPr/>
        </p:nvSpPr>
        <p:spPr>
          <a:xfrm>
            <a:off x="5349240" y="3630168"/>
            <a:ext cx="6172200" cy="347472"/>
          </a:xfrm>
          <a:prstGeom prst="rect">
            <a:avLst/>
          </a:prstGeom>
          <a:solidFill>
            <a:srgbClr val="FFFFFF"/>
          </a:solidFill>
          <a:ln w="6350">
            <a:solidFill>
              <a:srgbClr val="CBD5E1"/>
            </a:solidFill>
            <a:prstDash val="solid"/>
          </a:ln>
        </p:spPr>
        <p:txBody>
          <a:bodyPr/>
          <a:p/>
        </p:txBody>
      </p:sp>
      <p:sp>
        <p:nvSpPr>
          <p:cNvPr id="25" name="Text 22"/>
          <p:cNvSpPr/>
          <p:nvPr/>
        </p:nvSpPr>
        <p:spPr>
          <a:xfrm>
            <a:off x="5486400" y="3694176"/>
            <a:ext cx="3474720" cy="164592"/>
          </a:xfrm>
          <a:prstGeom prst="rect">
            <a:avLst/>
          </a:prstGeom>
          <a:noFill/>
          <a:ln/>
        </p:spPr>
        <p:txBody>
          <a:bodyPr wrap="square" lIns="0" tIns="0" rIns="0" bIns="0" rtlCol="0" anchor="ctr"/>
          <a:lstStyle/>
          <a:p>
            <a:pPr marL="0" indent="0">
              <a:buNone/>
            </a:pPr>
            <a:r>
              <a:rPr lang="en-US" sz="1200" dirty="0">
                <a:solidFill>
                  <a:srgbClr val="172033"/>
                </a:solidFill>
                <a:latin typeface="Aptos" pitchFamily="34" charset="0"/>
                <a:ea typeface="Aptos" pitchFamily="34" charset="-122"/>
                <a:cs typeface="Aptos" pitchFamily="34" charset="-120"/>
              </a:rPr>
              <a:t>Jammer suppression</a:t>
            </a:r>
            <a:endParaRPr lang="en-US" sz="1200" dirty="0"/>
          </a:p>
        </p:txBody>
      </p:sp>
      <p:sp>
        <p:nvSpPr>
          <p:cNvPr id="26" name="Text 23"/>
          <p:cNvSpPr/>
          <p:nvPr/>
        </p:nvSpPr>
        <p:spPr>
          <a:xfrm>
            <a:off x="9235440" y="3694176"/>
            <a:ext cx="2011680" cy="164592"/>
          </a:xfrm>
          <a:prstGeom prst="rect">
            <a:avLst/>
          </a:prstGeom>
          <a:noFill/>
          <a:ln/>
        </p:spPr>
        <p:txBody>
          <a:bodyPr wrap="square" lIns="0" tIns="0" rIns="0" bIns="0" rtlCol="0" anchor="ctr"/>
          <a:lstStyle/>
          <a:p>
            <a:pPr marL="0" indent="0" algn="r">
              <a:buNone/>
            </a:pPr>
            <a:r>
              <a:rPr lang="en-US" sz="1200" b="1" dirty="0">
                <a:solidFill>
                  <a:srgbClr val="172033"/>
                </a:solidFill>
                <a:latin typeface="Aptos" pitchFamily="34" charset="0"/>
                <a:ea typeface="Aptos" pitchFamily="34" charset="-122"/>
                <a:cs typeface="Aptos" pitchFamily="34" charset="-120"/>
              </a:rPr>
              <a:t>17.36 dB</a:t>
            </a:r>
            <a:endParaRPr lang="en-US" sz="1200" dirty="0"/>
          </a:p>
        </p:txBody>
      </p:sp>
      <p:sp>
        <p:nvSpPr>
          <p:cNvPr id="27" name="Shape 24"/>
          <p:cNvSpPr/>
          <p:nvPr/>
        </p:nvSpPr>
        <p:spPr>
          <a:xfrm>
            <a:off x="5349240" y="4014216"/>
            <a:ext cx="6172200" cy="347472"/>
          </a:xfrm>
          <a:prstGeom prst="rect">
            <a:avLst/>
          </a:prstGeom>
          <a:solidFill>
            <a:srgbClr val="F1F5F9"/>
          </a:solidFill>
          <a:ln w="6350">
            <a:solidFill>
              <a:srgbClr val="CBD5E1"/>
            </a:solidFill>
            <a:prstDash val="solid"/>
          </a:ln>
        </p:spPr>
        <p:txBody>
          <a:bodyPr/>
          <a:p/>
        </p:txBody>
      </p:sp>
      <p:sp>
        <p:nvSpPr>
          <p:cNvPr id="28" name="Text 25"/>
          <p:cNvSpPr/>
          <p:nvPr/>
        </p:nvSpPr>
        <p:spPr>
          <a:xfrm>
            <a:off x="5486400" y="4078224"/>
            <a:ext cx="3474720" cy="164592"/>
          </a:xfrm>
          <a:prstGeom prst="rect">
            <a:avLst/>
          </a:prstGeom>
          <a:noFill/>
          <a:ln/>
        </p:spPr>
        <p:txBody>
          <a:bodyPr wrap="square" lIns="0" tIns="0" rIns="0" bIns="0" rtlCol="0" anchor="ctr"/>
          <a:lstStyle/>
          <a:p>
            <a:pPr marL="0" indent="0">
              <a:buNone/>
            </a:pPr>
            <a:r>
              <a:rPr lang="en-US" sz="1200" dirty="0">
                <a:solidFill>
                  <a:srgbClr val="172033"/>
                </a:solidFill>
                <a:latin typeface="Aptos" pitchFamily="34" charset="0"/>
                <a:ea typeface="Aptos" pitchFamily="34" charset="-122"/>
                <a:cs typeface="Aptos" pitchFamily="34" charset="-120"/>
              </a:rPr>
              <a:t>MUSIC sharpness</a:t>
            </a:r>
            <a:endParaRPr lang="en-US" sz="1200" dirty="0"/>
          </a:p>
        </p:txBody>
      </p:sp>
      <p:sp>
        <p:nvSpPr>
          <p:cNvPr id="29" name="Text 26"/>
          <p:cNvSpPr/>
          <p:nvPr/>
        </p:nvSpPr>
        <p:spPr>
          <a:xfrm>
            <a:off x="9235440" y="4078224"/>
            <a:ext cx="2011680" cy="164592"/>
          </a:xfrm>
          <a:prstGeom prst="rect">
            <a:avLst/>
          </a:prstGeom>
          <a:noFill/>
          <a:ln/>
        </p:spPr>
        <p:txBody>
          <a:bodyPr wrap="square" lIns="0" tIns="0" rIns="0" bIns="0" rtlCol="0" anchor="ctr"/>
          <a:lstStyle/>
          <a:p>
            <a:pPr marL="0" indent="0" algn="r">
              <a:buNone/>
            </a:pPr>
            <a:r>
              <a:rPr lang="en-US" sz="1200" b="1" dirty="0">
                <a:solidFill>
                  <a:srgbClr val="172033"/>
                </a:solidFill>
                <a:latin typeface="Aptos" pitchFamily="34" charset="0"/>
                <a:ea typeface="Aptos" pitchFamily="34" charset="-122"/>
                <a:cs typeface="Aptos" pitchFamily="34" charset="-120"/>
              </a:rPr>
              <a:t>1.21 dB</a:t>
            </a:r>
            <a:endParaRPr lang="en-US" sz="1200" dirty="0"/>
          </a:p>
        </p:txBody>
      </p:sp>
      <p:sp>
        <p:nvSpPr>
          <p:cNvPr id="30" name="Text 27"/>
          <p:cNvSpPr/>
          <p:nvPr/>
        </p:nvSpPr>
        <p:spPr>
          <a:xfrm>
            <a:off x="5349240" y="4892040"/>
            <a:ext cx="3657600" cy="237744"/>
          </a:xfrm>
          <a:prstGeom prst="rect">
            <a:avLst/>
          </a:prstGeom>
          <a:noFill/>
          <a:ln/>
        </p:spPr>
        <p:txBody>
          <a:bodyPr wrap="square" lIns="0" tIns="0" rIns="0" bIns="0" rtlCol="0" anchor="ctr">
            <a:normAutofit/>
          </a:bodyPr>
          <a:lstStyle/>
          <a:p>
            <a:pPr marL="0" indent="0">
              <a:buNone/>
            </a:pPr>
            <a:r>
              <a:rPr lang="en-US" sz="1020" b="1" dirty="0">
                <a:solidFill>
                  <a:srgbClr val="059669"/>
                </a:solidFill>
                <a:latin typeface="Aptos" pitchFamily="34" charset="0"/>
                <a:ea typeface="Aptos" pitchFamily="34" charset="-122"/>
                <a:cs typeface="Aptos" pitchFamily="34" charset="-120"/>
              </a:rPr>
              <a:t>Interpretation</a:t>
            </a:r>
            <a:endParaRPr lang="en-US" sz="1020" dirty="0"/>
          </a:p>
        </p:txBody>
      </p:sp>
      <p:sp>
        <p:nvSpPr>
          <p:cNvPr id="31" name="Text 28"/>
          <p:cNvSpPr/>
          <p:nvPr/>
        </p:nvSpPr>
        <p:spPr>
          <a:xfrm>
            <a:off x="5394960" y="5257800"/>
            <a:ext cx="5989320" cy="658368"/>
          </a:xfrm>
          <a:prstGeom prst="rect">
            <a:avLst/>
          </a:prstGeom>
          <a:noFill/>
          <a:ln/>
        </p:spPr>
        <p:txBody>
          <a:bodyPr wrap="square" lIns="0" tIns="0" rIns="0" bIns="0" rtlCol="0" anchor="ctr">
            <a:normAutofit/>
          </a:bodyPr>
          <a:lstStyle/>
          <a:p>
            <a:pPr marL="0" indent="0">
              <a:buNone/>
            </a:pPr>
            <a:r>
              <a:rPr lang="en-US" sz="1350" dirty="0">
                <a:solidFill>
                  <a:srgbClr val="172033"/>
                </a:solidFill>
                <a:latin typeface="Aptos" pitchFamily="34" charset="0"/>
                <a:ea typeface="Aptos" pitchFamily="34" charset="-122"/>
                <a:cs typeface="Aptos" pitchFamily="34" charset="-120"/>
              </a:rPr>
              <a:t>Because Tx1 is active, suppression is meaningful. The measured 17.36 dB value indicates that the beamformed output power is significantly lower than the input under active LCMV nulling.</a:t>
            </a:r>
            <a:endParaRPr lang="en-US" sz="1350" dirty="0"/>
          </a:p>
        </p:txBody>
      </p:sp>
      <p:sp>
        <p:nvSpPr>
          <p:cNvPr id="32" name="Text 29"/>
          <p:cNvSpPr/>
          <p:nvPr/>
        </p:nvSpPr>
        <p:spPr>
          <a:xfrm>
            <a:off x="457200" y="6510528"/>
            <a:ext cx="11247120" cy="164592"/>
          </a:xfrm>
          <a:prstGeom prst="rect">
            <a:avLst/>
          </a:prstGeom>
          <a:noFill/>
          <a:ln/>
        </p:spPr>
        <p:txBody>
          <a:bodyPr wrap="square" lIns="0" tIns="0" rIns="0" bIns="0" rtlCol="0" anchor="ctr">
            <a:normAutofit/>
          </a:bodyPr>
          <a:lstStyle/>
          <a:p>
            <a:pPr marL="0" indent="0" algn="r">
              <a:buNone/>
            </a:pPr>
            <a:r>
              <a:rPr lang="en-US" sz="750" dirty="0">
                <a:solidFill>
                  <a:srgbClr val="94A3B8"/>
                </a:solidFill>
                <a:latin typeface="Aptos" pitchFamily="34" charset="0"/>
                <a:ea typeface="Aptos" pitchFamily="34" charset="-122"/>
                <a:cs typeface="Aptos" pitchFamily="34" charset="-120"/>
              </a:rPr>
              <a:t>EE4084 Kalman and Bayesian Filters • Project Presentation • 14/15</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37744"/>
            <a:ext cx="11247120" cy="420624"/>
          </a:xfrm>
          <a:prstGeom prst="rect">
            <a:avLst/>
          </a:prstGeom>
          <a:noFill/>
          <a:ln/>
        </p:spPr>
        <p:txBody>
          <a:bodyPr wrap="square" lIns="0" tIns="0" rIns="0" bIns="0" rtlCol="0" anchor="ctr">
            <a:normAutofit/>
          </a:bodyPr>
          <a:lstStyle/>
          <a:p>
            <a:pPr marL="0" indent="0">
              <a:buNone/>
            </a:pPr>
            <a:r>
              <a:rPr lang="en-US" sz="2200" b="1" dirty="0">
                <a:solidFill>
                  <a:srgbClr val="172033"/>
                </a:solidFill>
                <a:latin typeface="Aptos Display" pitchFamily="34" charset="0"/>
                <a:ea typeface="Aptos Display" pitchFamily="34" charset="-122"/>
                <a:cs typeface="Aptos Display" pitchFamily="34" charset="-120"/>
              </a:rPr>
              <a:t>Demonstration plan, limitations, and conclusion</a:t>
            </a:r>
            <a:endParaRPr lang="en-US" sz="2200" dirty="0"/>
          </a:p>
        </p:txBody>
      </p:sp>
      <p:sp>
        <p:nvSpPr>
          <p:cNvPr id="3" name="Text 1"/>
          <p:cNvSpPr/>
          <p:nvPr/>
        </p:nvSpPr>
        <p:spPr>
          <a:xfrm>
            <a:off x="457200" y="704088"/>
            <a:ext cx="11247120" cy="237744"/>
          </a:xfrm>
          <a:prstGeom prst="rect">
            <a:avLst/>
          </a:prstGeom>
          <a:noFill/>
          <a:ln/>
        </p:spPr>
        <p:txBody>
          <a:bodyPr wrap="square" lIns="0" tIns="0" rIns="0" bIns="0" rtlCol="0" anchor="ctr">
            <a:normAutofit/>
          </a:bodyPr>
          <a:lstStyle/>
          <a:p>
            <a:pPr marL="0" indent="0">
              <a:buNone/>
            </a:pPr>
            <a:r>
              <a:rPr lang="en-US" sz="1150" dirty="0">
                <a:solidFill>
                  <a:srgbClr val="5D667A"/>
                </a:solidFill>
                <a:latin typeface="Aptos" pitchFamily="34" charset="0"/>
                <a:ea typeface="Aptos" pitchFamily="34" charset="-122"/>
                <a:cs typeface="Aptos" pitchFamily="34" charset="-120"/>
              </a:rPr>
              <a:t>The Bandicam video should show the mode transition clearly and end with measured results.</a:t>
            </a:r>
            <a:endParaRPr lang="en-US" sz="1150" dirty="0"/>
          </a:p>
        </p:txBody>
      </p:sp>
      <p:sp>
        <p:nvSpPr>
          <p:cNvPr id="5" name="Text 3"/>
          <p:cNvSpPr/>
          <p:nvPr/>
        </p:nvSpPr>
        <p:spPr>
          <a:xfrm>
            <a:off x="658368" y="1325880"/>
            <a:ext cx="5440680" cy="1874520"/>
          </a:xfrm>
          <a:prstGeom prst="rect">
            <a:avLst/>
          </a:prstGeom>
          <a:noFill/>
          <a:ln/>
        </p:spPr>
        <p:txBody>
          <a:bodyPr wrap="square" lIns="508" tIns="508" rIns="508" bIns="508" rtlCol="0" anchor="ctr">
            <a:normAutofit/>
          </a:bodyPr>
          <a:lstStyle/>
          <a:p>
            <a:r>
              <a:rPr lang="en-US" sz="1480" dirty="0">
                <a:solidFill>
                  <a:srgbClr val="172033"/>
                </a:solidFill>
                <a:latin typeface="Aptos" pitchFamily="34" charset="0"/>
                <a:ea typeface="Aptos" pitchFamily="34" charset="-122"/>
                <a:cs typeface="Aptos" pitchFamily="34" charset="-120"/>
              </a:rPr>
              <a:t>Start with Tx1 OFF: show SOI tracking + MVDR.
</a:t>
            </a:r>
            <a:endParaRPr lang="en-US" sz="1480" dirty="0"/>
          </a:p>
          <a:p>
            <a:r>
              <a:rPr lang="en-US" sz="1480" dirty="0">
                <a:solidFill>
                  <a:srgbClr val="172033"/>
                </a:solidFill>
                <a:latin typeface="Aptos" pitchFamily="34" charset="0"/>
                <a:ea typeface="Aptos" pitchFamily="34" charset="-122"/>
                <a:cs typeface="Aptos" pitchFamily="34" charset="-120"/>
              </a:rPr>
              <a:t>Enable Tx1: show MUSIC peak moving to jammer and IMM target = JAMMER.
</a:t>
            </a:r>
            <a:endParaRPr lang="en-US" sz="1480" dirty="0"/>
          </a:p>
          <a:p>
            <a:r>
              <a:rPr lang="en-US" sz="1480" dirty="0">
                <a:solidFill>
                  <a:srgbClr val="172033"/>
                </a:solidFill>
                <a:latin typeface="Aptos" pitchFamily="34" charset="0"/>
                <a:ea typeface="Aptos" pitchFamily="34" charset="-122"/>
                <a:cs typeface="Aptos" pitchFamily="34" charset="-120"/>
              </a:rPr>
              <a:t>Confirm LCMV mode and suppression value appear.
</a:t>
            </a:r>
            <a:endParaRPr lang="en-US" sz="1480" dirty="0"/>
          </a:p>
          <a:p>
            <a:r>
              <a:rPr lang="en-US" sz="1480" dirty="0">
                <a:solidFill>
                  <a:srgbClr val="172033"/>
                </a:solidFill>
                <a:latin typeface="Aptos" pitchFamily="34" charset="0"/>
                <a:ea typeface="Aptos" pitchFamily="34" charset="-122"/>
                <a:cs typeface="Aptos" pitchFamily="34" charset="-120"/>
              </a:rPr>
              <a:t>Disable Tx1: show return to SOI tracking + MVDR.
</a:t>
            </a:r>
            <a:endParaRPr lang="en-US" sz="1480" dirty="0"/>
          </a:p>
          <a:p>
            <a:r>
              <a:rPr lang="en-US" sz="1480" dirty="0">
                <a:solidFill>
                  <a:srgbClr val="172033"/>
                </a:solidFill>
                <a:latin typeface="Aptos" pitchFamily="34" charset="0"/>
                <a:ea typeface="Aptos" pitchFamily="34" charset="-122"/>
                <a:cs typeface="Aptos" pitchFamily="34" charset="-120"/>
              </a:rPr>
              <a:t>Mention final YouTube link permissions before submission.</a:t>
            </a:r>
            <a:endParaRPr lang="en-US" sz="1480" dirty="0"/>
          </a:p>
        </p:txBody>
      </p:sp>
      <p:sp>
        <p:nvSpPr>
          <p:cNvPr id="6" name="Text 4"/>
          <p:cNvSpPr/>
          <p:nvPr/>
        </p:nvSpPr>
        <p:spPr>
          <a:xfrm>
            <a:off x="6446520" y="1144243"/>
            <a:ext cx="4754880" cy="237744"/>
          </a:xfrm>
          <a:prstGeom prst="rect">
            <a:avLst/>
          </a:prstGeom>
          <a:noFill/>
          <a:ln/>
        </p:spPr>
        <p:txBody>
          <a:bodyPr wrap="square" lIns="0" tIns="0" rIns="0" bIns="0" rtlCol="0" anchor="ctr">
            <a:normAutofit/>
          </a:bodyPr>
          <a:lstStyle/>
          <a:p>
            <a:pPr marL="0" indent="0">
              <a:buNone/>
            </a:pPr>
            <a:r>
              <a:rPr lang="en-US" sz="1400" b="1" dirty="0">
                <a:solidFill>
                  <a:srgbClr val="DC2626"/>
                </a:solidFill>
                <a:latin typeface="Aptos" pitchFamily="34" charset="0"/>
                <a:ea typeface="Aptos" pitchFamily="34" charset="-122"/>
                <a:cs typeface="Aptos" pitchFamily="34" charset="-120"/>
              </a:rPr>
              <a:t>Limitations</a:t>
            </a:r>
            <a:endParaRPr lang="en-US" sz="1400" dirty="0"/>
          </a:p>
        </p:txBody>
      </p:sp>
      <p:sp>
        <p:nvSpPr>
          <p:cNvPr id="7" name="Text 5"/>
          <p:cNvSpPr/>
          <p:nvPr/>
        </p:nvSpPr>
        <p:spPr>
          <a:xfrm>
            <a:off x="6446520" y="1419628"/>
            <a:ext cx="5029200" cy="1627632"/>
          </a:xfrm>
          <a:prstGeom prst="rect">
            <a:avLst/>
          </a:prstGeom>
          <a:noFill/>
          <a:ln/>
        </p:spPr>
        <p:txBody>
          <a:bodyPr wrap="square" lIns="508" tIns="508" rIns="508" bIns="508" rtlCol="0" anchor="ctr">
            <a:normAutofit fontScale="92500"/>
          </a:bodyPr>
          <a:lstStyle/>
          <a:p>
            <a:r>
              <a:rPr lang="en-US" sz="1480" dirty="0">
                <a:solidFill>
                  <a:srgbClr val="172033"/>
                </a:solidFill>
                <a:latin typeface="Aptos" pitchFamily="34" charset="0"/>
                <a:ea typeface="Aptos" pitchFamily="34" charset="-122"/>
                <a:cs typeface="Aptos" pitchFamily="34" charset="-120"/>
              </a:rPr>
              <a:t>Two RX channels allow one dominant DoA estimate at a time.
</a:t>
            </a:r>
            <a:endParaRPr lang="en-US" sz="1480" dirty="0"/>
          </a:p>
          <a:p>
            <a:r>
              <a:rPr lang="en-US" sz="1480" dirty="0">
                <a:solidFill>
                  <a:srgbClr val="172033"/>
                </a:solidFill>
                <a:latin typeface="Aptos" pitchFamily="34" charset="0"/>
                <a:ea typeface="Aptos" pitchFamily="34" charset="-122"/>
                <a:cs typeface="Aptos" pitchFamily="34" charset="-120"/>
              </a:rPr>
              <a:t>SOI is assumed fixed at 0° in jammer-present mode.
</a:t>
            </a:r>
            <a:endParaRPr lang="en-US" sz="1480" dirty="0"/>
          </a:p>
          <a:p>
            <a:r>
              <a:rPr lang="en-US" sz="1480" dirty="0">
                <a:solidFill>
                  <a:srgbClr val="172033"/>
                </a:solidFill>
                <a:latin typeface="Aptos" pitchFamily="34" charset="0"/>
                <a:ea typeface="Aptos" pitchFamily="34" charset="-122"/>
                <a:cs typeface="Aptos" pitchFamily="34" charset="-120"/>
              </a:rPr>
              <a:t>Phase mismatch and multipath can create mirror/image peaks.
</a:t>
            </a:r>
            <a:endParaRPr lang="en-US" sz="1480" dirty="0"/>
          </a:p>
          <a:p>
            <a:r>
              <a:rPr lang="en-US" sz="1480" dirty="0">
                <a:solidFill>
                  <a:srgbClr val="172033"/>
                </a:solidFill>
                <a:latin typeface="Aptos" pitchFamily="34" charset="0"/>
                <a:ea typeface="Aptos" pitchFamily="34" charset="-122"/>
                <a:cs typeface="Aptos" pitchFamily="34" charset="-120"/>
              </a:rPr>
              <a:t>Suppression depends on DoA accuracy and calibration quality.</a:t>
            </a:r>
            <a:endParaRPr lang="en-US" sz="1480" dirty="0"/>
          </a:p>
        </p:txBody>
      </p:sp>
      <p:sp>
        <p:nvSpPr>
          <p:cNvPr id="8" name="Text 6"/>
          <p:cNvSpPr/>
          <p:nvPr/>
        </p:nvSpPr>
        <p:spPr>
          <a:xfrm>
            <a:off x="658368" y="3995928"/>
            <a:ext cx="5394960" cy="237744"/>
          </a:xfrm>
          <a:prstGeom prst="rect">
            <a:avLst/>
          </a:prstGeom>
          <a:noFill/>
          <a:ln/>
        </p:spPr>
        <p:txBody>
          <a:bodyPr wrap="square" lIns="0" tIns="0" rIns="0" bIns="0" rtlCol="0" anchor="ctr">
            <a:normAutofit/>
          </a:bodyPr>
          <a:lstStyle/>
          <a:p>
            <a:pPr marL="0" indent="0">
              <a:buNone/>
            </a:pPr>
            <a:r>
              <a:rPr lang="en-US" sz="1400" b="1" dirty="0">
                <a:solidFill>
                  <a:srgbClr val="059669"/>
                </a:solidFill>
                <a:latin typeface="Aptos" pitchFamily="34" charset="0"/>
                <a:ea typeface="Aptos" pitchFamily="34" charset="-122"/>
                <a:cs typeface="Aptos" pitchFamily="34" charset="-120"/>
              </a:rPr>
              <a:t>Conclusion and future extension</a:t>
            </a:r>
            <a:endParaRPr lang="en-US" sz="1400" dirty="0"/>
          </a:p>
        </p:txBody>
      </p:sp>
      <p:sp>
        <p:nvSpPr>
          <p:cNvPr id="9" name="Text 7"/>
          <p:cNvSpPr/>
          <p:nvPr/>
        </p:nvSpPr>
        <p:spPr>
          <a:xfrm>
            <a:off x="658368" y="4370832"/>
            <a:ext cx="10835640" cy="1234440"/>
          </a:xfrm>
          <a:prstGeom prst="rect">
            <a:avLst/>
          </a:prstGeom>
          <a:noFill/>
          <a:ln/>
        </p:spPr>
        <p:txBody>
          <a:bodyPr wrap="square" lIns="508" tIns="508" rIns="508" bIns="508" rtlCol="0" anchor="ctr">
            <a:normAutofit/>
          </a:bodyPr>
          <a:lstStyle/>
          <a:p>
            <a:r>
              <a:rPr lang="en-US" sz="1480" dirty="0">
                <a:solidFill>
                  <a:srgbClr val="172033"/>
                </a:solidFill>
                <a:latin typeface="Aptos" pitchFamily="34" charset="0"/>
                <a:ea typeface="Aptos" pitchFamily="34" charset="-122"/>
                <a:cs typeface="Aptos" pitchFamily="34" charset="-120"/>
              </a:rPr>
              <a:t>MUSIC provides raw DoA; IMM Kalman stabilizes tracking.
</a:t>
            </a:r>
            <a:endParaRPr lang="en-US" sz="1480" dirty="0"/>
          </a:p>
          <a:p>
            <a:r>
              <a:rPr lang="en-US" sz="1480" dirty="0">
                <a:solidFill>
                  <a:srgbClr val="172033"/>
                </a:solidFill>
                <a:latin typeface="Aptos" pitchFamily="34" charset="0"/>
                <a:ea typeface="Aptos" pitchFamily="34" charset="-122"/>
                <a:cs typeface="Aptos" pitchFamily="34" charset="-120"/>
              </a:rPr>
              <a:t>MVDR is used in no-jammer mode; LCMV is used in jammer-present mode.
</a:t>
            </a:r>
            <a:endParaRPr lang="en-US" sz="1480" dirty="0"/>
          </a:p>
          <a:p>
            <a:r>
              <a:rPr lang="en-US" sz="1480" dirty="0">
                <a:solidFill>
                  <a:srgbClr val="172033"/>
                </a:solidFill>
                <a:latin typeface="Aptos" pitchFamily="34" charset="0"/>
                <a:ea typeface="Aptos" pitchFamily="34" charset="-122"/>
                <a:cs typeface="Aptos" pitchFamily="34" charset="-120"/>
              </a:rPr>
              <a:t>Future work: run the real-time chain on Pluto ARM Cortex-A9 and accelerate covariance/beamforming blocks on Zynq Z-7010 programmable logic.</a:t>
            </a:r>
            <a:endParaRPr lang="en-US" sz="1480" dirty="0"/>
          </a:p>
        </p:txBody>
      </p:sp>
      <p:sp>
        <p:nvSpPr>
          <p:cNvPr id="10" name="Text 8"/>
          <p:cNvSpPr/>
          <p:nvPr/>
        </p:nvSpPr>
        <p:spPr>
          <a:xfrm>
            <a:off x="658368" y="5870448"/>
            <a:ext cx="10789920" cy="292608"/>
          </a:xfrm>
          <a:prstGeom prst="rect">
            <a:avLst/>
          </a:prstGeom>
          <a:noFill/>
          <a:ln/>
        </p:spPr>
        <p:txBody>
          <a:bodyPr wrap="square" lIns="0" tIns="0" rIns="0" bIns="0" rtlCol="0" anchor="ctr">
            <a:normAutofit/>
          </a:bodyPr>
          <a:lstStyle/>
          <a:p>
            <a:pPr marL="0" indent="0">
              <a:buNone/>
            </a:pPr>
            <a:r>
              <a:rPr lang="en-US" sz="1450" b="1" dirty="0">
                <a:solidFill>
                  <a:srgbClr val="172033"/>
                </a:solidFill>
                <a:latin typeface="Aptos" pitchFamily="34" charset="0"/>
                <a:ea typeface="Aptos" pitchFamily="34" charset="-122"/>
                <a:cs typeface="Aptos" pitchFamily="34" charset="-120"/>
              </a:rPr>
              <a:t>Final takeaway: the project demonstrates a complete estimation + adaptive beamforming loop for dynamic jammer-aware receiver operation.</a:t>
            </a:r>
            <a:endParaRPr lang="en-US" sz="1450" dirty="0"/>
          </a:p>
        </p:txBody>
      </p:sp>
      <p:sp>
        <p:nvSpPr>
          <p:cNvPr id="11" name="Text 9"/>
          <p:cNvSpPr/>
          <p:nvPr/>
        </p:nvSpPr>
        <p:spPr>
          <a:xfrm>
            <a:off x="457200" y="6510528"/>
            <a:ext cx="11247120" cy="164592"/>
          </a:xfrm>
          <a:prstGeom prst="rect">
            <a:avLst/>
          </a:prstGeom>
          <a:noFill/>
          <a:ln/>
        </p:spPr>
        <p:txBody>
          <a:bodyPr wrap="square" lIns="0" tIns="0" rIns="0" bIns="0" rtlCol="0" anchor="ctr">
            <a:normAutofit/>
          </a:bodyPr>
          <a:lstStyle/>
          <a:p>
            <a:pPr marL="0" indent="0" algn="r">
              <a:buNone/>
            </a:pPr>
            <a:r>
              <a:rPr lang="en-US" sz="750" dirty="0">
                <a:solidFill>
                  <a:srgbClr val="94A3B8"/>
                </a:solidFill>
                <a:latin typeface="Aptos" pitchFamily="34" charset="0"/>
                <a:ea typeface="Aptos" pitchFamily="34" charset="-122"/>
                <a:cs typeface="Aptos" pitchFamily="34" charset="-120"/>
              </a:rPr>
              <a:t>EE4084 Kalman and Bayesian Filters • Project Presentation • 15/15</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3797</Words>
  <Application>Microsoft Office PowerPoint</Application>
  <PresentationFormat>Geniş ekran</PresentationFormat>
  <Paragraphs>245</Paragraphs>
  <Slides>15</Slides>
  <Notes>15</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15</vt:i4>
      </vt:variant>
    </vt:vector>
  </HeadingPairs>
  <TitlesOfParts>
    <vt:vector size="20" baseType="lpstr">
      <vt:lpstr>Aptos</vt:lpstr>
      <vt:lpstr>Aptos Display</vt:lpstr>
      <vt:lpstr>Arial</vt:lpstr>
      <vt:lpstr>Cambria Math</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Marmara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DoA Tracking and Jammer Suppression</dc:title>
  <dc:subject>EE4084 Kalman and Bayesian Filters Project Presentation</dc:subject>
  <dc:creator>Mehmet Burak Altıntaş</dc:creator>
  <cp:lastModifiedBy>Mehmet Burak Altıntaş</cp:lastModifiedBy>
  <cp:revision>8</cp:revision>
  <dcterms:created xsi:type="dcterms:W3CDTF">2026-06-08T11:10:24Z</dcterms:created>
  <dcterms:modified xsi:type="dcterms:W3CDTF">2026-06-08T12:28:08Z</dcterms:modified>
</cp:coreProperties>
</file>